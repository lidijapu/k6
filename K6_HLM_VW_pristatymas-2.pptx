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2" r:id="rId1"/>
    <p:sldMasterId id="2147483710" r:id="rId2"/>
  </p:sldMasterIdLst>
  <p:sldIdLst>
    <p:sldId id="256" r:id="rId3"/>
    <p:sldId id="301" r:id="rId4"/>
    <p:sldId id="302" r:id="rId5"/>
    <p:sldId id="303" r:id="rId6"/>
    <p:sldId id="304" r:id="rId7"/>
    <p:sldId id="305" r:id="rId8"/>
    <p:sldId id="306" r:id="rId9"/>
    <p:sldId id="307" r:id="rId10"/>
    <p:sldId id="308" r:id="rId11"/>
    <p:sldId id="309" r:id="rId12"/>
    <p:sldId id="310" r:id="rId13"/>
    <p:sldId id="311" r:id="rId14"/>
    <p:sldId id="313" r:id="rId16"/>
    <p:sldId id="314" r:id="rId17"/>
    <p:sldId id="315" r:id="rId18"/>
    <p:sldId id="316" r:id="rId19"/>
    <p:sldId id="317" r:id="rId20"/>
    <p:sldId id="290" r:id="rId21"/>
  </p:sldIdLst>
  <p:sldSz cx="12192000" cy="6858000"/>
  <p:notesSz cx="6858000" cy="9144000"/>
  <p:defaultTextStyle>
    <a:defPPr>
      <a:defRPr lang="lt-L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800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82" autoAdjust="0"/>
    <p:restoredTop sz="95652"/>
  </p:normalViewPr>
  <p:slideViewPr>
    <p:cSldViewPr snapToGrid="0">
      <p:cViewPr varScale="1">
        <p:scale>
          <a:sx n="114" d="100"/>
          <a:sy n="114" d="100"/>
        </p:scale>
        <p:origin x="464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035300" y="4043088"/>
            <a:ext cx="8560955" cy="2305050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9016" y="459481"/>
            <a:ext cx="3647137" cy="1365515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2521776" y="3493564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793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7" y="3102776"/>
            <a:ext cx="5396345" cy="3481198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5946098" y="2667741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9016" y="459481"/>
            <a:ext cx="3647137" cy="136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34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8" y="3338945"/>
            <a:ext cx="5396345" cy="3186462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6096000" y="2869785"/>
            <a:ext cx="1410475" cy="1341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6736" y="586110"/>
            <a:ext cx="2970720" cy="1112258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0465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in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4058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054725" y="1889760"/>
            <a:ext cx="5483860" cy="83312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055360" y="3024493"/>
            <a:ext cx="5483225" cy="3345510"/>
          </a:xfrm>
        </p:spPr>
        <p:txBody>
          <a:bodyPr/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lvl1pPr>
          </a:lstStyle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lvl="0"/>
            <a:endParaRPr lang="lt-LT" dirty="0"/>
          </a:p>
          <a:p>
            <a:pPr lvl="0"/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1167221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186842"/>
            <a:ext cx="9053945" cy="1126868"/>
          </a:xfrm>
        </p:spPr>
        <p:txBody>
          <a:bodyPr/>
          <a:lstStyle/>
          <a:p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title</a:t>
            </a:r>
            <a:r>
              <a:rPr lang="lt-LT" dirty="0"/>
              <a:t> </a:t>
            </a:r>
            <a:r>
              <a:rPr lang="lt-LT" dirty="0" err="1"/>
              <a:t>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838200" y="2512405"/>
            <a:ext cx="9053945" cy="3597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1191197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ėlis ir 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6591" y="1392063"/>
            <a:ext cx="6796209" cy="121692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4176568" y="2909455"/>
            <a:ext cx="6796088" cy="317889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0" y="7938"/>
            <a:ext cx="3035300" cy="6842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515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Rectangle 4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3004" y="587486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731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9943144" y="4727407"/>
            <a:ext cx="1943100" cy="1765468"/>
          </a:xfrm>
          <a:noFill/>
          <a:ln>
            <a:noFill/>
          </a:ln>
        </p:spPr>
        <p:txBody>
          <a:bodyPr anchor="b">
            <a:normAutofit/>
          </a:bodyPr>
          <a:lstStyle>
            <a:lvl1pPr algn="r">
              <a:defRPr sz="9600" b="1">
                <a:solidFill>
                  <a:schemeClr val="tx1"/>
                </a:solidFill>
                <a:latin typeface="GT Walsheim" charset="0"/>
                <a:ea typeface="GT Walsheim" charset="0"/>
                <a:cs typeface="GT Walsheim" charset="0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552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82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kstas ir paveikslėli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4517136" y="0"/>
            <a:ext cx="7674864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576" y="1314510"/>
            <a:ext cx="3576408" cy="140562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>
          <a:xfrm>
            <a:off x="435864" y="3267940"/>
            <a:ext cx="3576408" cy="31444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2359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56227" y="755793"/>
            <a:ext cx="5332846" cy="376150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90277" y="2636548"/>
            <a:ext cx="4918075" cy="35746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44113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tat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6750" y="2093595"/>
            <a:ext cx="8318500" cy="270700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3035300" cy="934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1104275" y="172449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 userDrawn="1"/>
        </p:nvSpPr>
        <p:spPr>
          <a:xfrm>
            <a:off x="9409039" y="5038690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798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lis ir 3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838201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499264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8160327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6192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>
          <a:xfrm>
            <a:off x="430220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 userDrawn="1"/>
        </p:nvSpPr>
        <p:spPr>
          <a:xfrm>
            <a:off x="7963267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144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ys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838201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4499264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8160327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4630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428658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7947645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0"/>
            <a:ext cx="3271520" cy="853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412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pun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100446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79177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100446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79177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688975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5" name="Rectangle 14"/>
          <p:cNvSpPr/>
          <p:nvPr userDrawn="1"/>
        </p:nvSpPr>
        <p:spPr>
          <a:xfrm>
            <a:off x="667706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688975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667706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205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5010150" cy="39560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hart Placeholder 3"/>
          <p:cNvSpPr>
            <a:spLocks noGrp="1"/>
          </p:cNvSpPr>
          <p:nvPr>
            <p:ph type="chart" sz="quarter" idx="11"/>
          </p:nvPr>
        </p:nvSpPr>
        <p:spPr>
          <a:xfrm>
            <a:off x="6172511" y="2156460"/>
            <a:ext cx="5010150" cy="39560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726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9561513" cy="40195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6800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ruktū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4" name="SmartArt Placeholder 3"/>
          <p:cNvSpPr>
            <a:spLocks noGrp="1"/>
          </p:cNvSpPr>
          <p:nvPr>
            <p:ph type="dgm" sz="quarter" idx="10"/>
          </p:nvPr>
        </p:nvSpPr>
        <p:spPr>
          <a:xfrm>
            <a:off x="838200" y="2041525"/>
            <a:ext cx="8929255" cy="4221163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82189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ntel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6" name="Table Placeholder 5"/>
          <p:cNvSpPr>
            <a:spLocks noGrp="1"/>
          </p:cNvSpPr>
          <p:nvPr>
            <p:ph type="tbl" sz="quarter" idx="10"/>
          </p:nvPr>
        </p:nvSpPr>
        <p:spPr>
          <a:xfrm>
            <a:off x="838200" y="2041525"/>
            <a:ext cx="8929688" cy="41100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7744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ų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6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1472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išraus turinio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6423660" y="320041"/>
            <a:ext cx="5394960" cy="16916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722876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6455" y="599440"/>
            <a:ext cx="3103721" cy="1162056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6389255" y="4279271"/>
            <a:ext cx="5394325" cy="203390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6389255" y="3221287"/>
            <a:ext cx="5396345" cy="83312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PAVADINIMAS</a:t>
            </a:r>
          </a:p>
        </p:txBody>
      </p:sp>
      <p:sp>
        <p:nvSpPr>
          <p:cNvPr id="12" name="Rectangle 11"/>
          <p:cNvSpPr/>
          <p:nvPr userDrawn="1"/>
        </p:nvSpPr>
        <p:spPr>
          <a:xfrm>
            <a:off x="5849598" y="2855328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6083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449990"/>
            <a:ext cx="3672482" cy="13750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035300" y="4043088"/>
            <a:ext cx="8560955" cy="2305050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2521776" y="3493564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94661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449990"/>
            <a:ext cx="3672482" cy="1375005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7" y="3102776"/>
            <a:ext cx="5396345" cy="3481198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5946098" y="2667741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9470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6736" y="586111"/>
            <a:ext cx="2967867" cy="1111192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8" y="3338945"/>
            <a:ext cx="5396345" cy="3186462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6096000" y="2869785"/>
            <a:ext cx="1410475" cy="1341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358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in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4058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054725" y="1889760"/>
            <a:ext cx="5483860" cy="83312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055360" y="3024493"/>
            <a:ext cx="5483225" cy="3345510"/>
          </a:xfrm>
        </p:spPr>
        <p:txBody>
          <a:bodyPr/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lvl1pPr>
          </a:lstStyle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lvl="0"/>
            <a:endParaRPr lang="lt-LT" dirty="0"/>
          </a:p>
          <a:p>
            <a:pPr lvl="0"/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208818472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186842"/>
            <a:ext cx="9053945" cy="1126868"/>
          </a:xfrm>
        </p:spPr>
        <p:txBody>
          <a:bodyPr/>
          <a:lstStyle/>
          <a:p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title</a:t>
            </a:r>
            <a:r>
              <a:rPr lang="lt-LT" dirty="0"/>
              <a:t> </a:t>
            </a:r>
            <a:r>
              <a:rPr lang="lt-LT" dirty="0" err="1"/>
              <a:t>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838200" y="2512405"/>
            <a:ext cx="9053945" cy="3597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93349977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ėlis ir 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6591" y="1392063"/>
            <a:ext cx="6796209" cy="121692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4176568" y="2909455"/>
            <a:ext cx="6796088" cy="317889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0" y="7938"/>
            <a:ext cx="3035300" cy="6842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50895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Rectangle 4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3004" y="589391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71824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9943144" y="4727407"/>
            <a:ext cx="1943100" cy="1765468"/>
          </a:xfrm>
          <a:noFill/>
          <a:ln>
            <a:noFill/>
          </a:ln>
        </p:spPr>
        <p:txBody>
          <a:bodyPr anchor="b">
            <a:normAutofit/>
          </a:bodyPr>
          <a:lstStyle>
            <a:lvl1pPr algn="r">
              <a:defRPr sz="9600" b="1">
                <a:solidFill>
                  <a:schemeClr val="tx1"/>
                </a:solidFill>
                <a:latin typeface="GT Walsheim" charset="0"/>
                <a:ea typeface="GT Walsheim" charset="0"/>
                <a:cs typeface="GT Walsheim" charset="0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40897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6086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kstas ir paveikslėli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4517136" y="0"/>
            <a:ext cx="7674864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576" y="1314510"/>
            <a:ext cx="3576408" cy="140562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>
          <a:xfrm>
            <a:off x="435864" y="3267940"/>
            <a:ext cx="3576408" cy="31444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505080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56227" y="755793"/>
            <a:ext cx="5332846" cy="376150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90277" y="2636548"/>
            <a:ext cx="4918075" cy="35746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9630533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tat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6750" y="2093595"/>
            <a:ext cx="8318500" cy="270700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3035300" cy="934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1104275" y="172449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 userDrawn="1"/>
        </p:nvSpPr>
        <p:spPr>
          <a:xfrm>
            <a:off x="9409039" y="5038690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35971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lis ir 3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838201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499264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8160327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6192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>
          <a:xfrm>
            <a:off x="430220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 userDrawn="1"/>
        </p:nvSpPr>
        <p:spPr>
          <a:xfrm>
            <a:off x="7963267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81421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ys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838201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4499264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8160327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4630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428658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7947645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0"/>
            <a:ext cx="3271520" cy="853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207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pun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100446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79177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100446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79177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688975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5" name="Rectangle 14"/>
          <p:cNvSpPr/>
          <p:nvPr userDrawn="1"/>
        </p:nvSpPr>
        <p:spPr>
          <a:xfrm>
            <a:off x="667706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688975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667706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57910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5010150" cy="39560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hart Placeholder 3"/>
          <p:cNvSpPr>
            <a:spLocks noGrp="1"/>
          </p:cNvSpPr>
          <p:nvPr>
            <p:ph type="chart" sz="quarter" idx="11"/>
          </p:nvPr>
        </p:nvSpPr>
        <p:spPr>
          <a:xfrm>
            <a:off x="6172511" y="2156460"/>
            <a:ext cx="5010150" cy="39560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8060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9561513" cy="40195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92600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ruktū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4" name="SmartArt Placeholder 3"/>
          <p:cNvSpPr>
            <a:spLocks noGrp="1"/>
          </p:cNvSpPr>
          <p:nvPr>
            <p:ph type="dgm" sz="quarter" idx="10"/>
          </p:nvPr>
        </p:nvSpPr>
        <p:spPr>
          <a:xfrm>
            <a:off x="838200" y="2041525"/>
            <a:ext cx="8929255" cy="4221163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55134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ntel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6" name="Table Placeholder 5"/>
          <p:cNvSpPr>
            <a:spLocks noGrp="1"/>
          </p:cNvSpPr>
          <p:nvPr>
            <p:ph type="tbl" sz="quarter" idx="10"/>
          </p:nvPr>
        </p:nvSpPr>
        <p:spPr>
          <a:xfrm>
            <a:off x="838200" y="2041525"/>
            <a:ext cx="8929688" cy="41100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6536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0521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ų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6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85825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išraus turinio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6423660" y="320041"/>
            <a:ext cx="5394960" cy="16916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385794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594653"/>
            <a:ext cx="3116505" cy="1166843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6389255" y="4279271"/>
            <a:ext cx="5394325" cy="203390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6389255" y="3221287"/>
            <a:ext cx="5396345" cy="83312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PAVADINIMAS</a:t>
            </a:r>
          </a:p>
        </p:txBody>
      </p:sp>
      <p:sp>
        <p:nvSpPr>
          <p:cNvPr id="12" name="Rectangle 11"/>
          <p:cNvSpPr/>
          <p:nvPr userDrawn="1"/>
        </p:nvSpPr>
        <p:spPr>
          <a:xfrm>
            <a:off x="5849598" y="2855328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40274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39.xml"/><Relationship Id="rId17" Type="http://schemas.openxmlformats.org/officeDocument/2006/relationships/slideLayout" Target="../slideLayouts/slideLayout40.xml"/><Relationship Id="rId18" Type="http://schemas.openxmlformats.org/officeDocument/2006/relationships/slideLayout" Target="../slideLayouts/slideLayout41.xml"/><Relationship Id="rId19" Type="http://schemas.openxmlformats.org/officeDocument/2006/relationships/slideLayout" Target="../slideLayouts/slideLayout42.xml"/><Relationship Id="rId20" Type="http://schemas.openxmlformats.org/officeDocument/2006/relationships/slideLayout" Target="../slideLayouts/slideLayout43.xml"/><Relationship Id="rId21" Type="http://schemas.openxmlformats.org/officeDocument/2006/relationships/slideLayout" Target="../slideLayouts/slideLayout44.xml"/><Relationship Id="rId22" Type="http://schemas.openxmlformats.org/officeDocument/2006/relationships/slideLayout" Target="../slideLayouts/slideLayout45.xml"/><Relationship Id="rId23" Type="http://schemas.openxmlformats.org/officeDocument/2006/relationships/slideLayout" Target="../slideLayouts/slideLayout46.xml"/><Relationship Id="rId24" Type="http://schemas.openxmlformats.org/officeDocument/2006/relationships/theme" Target="../theme/theme2.xml"/><Relationship Id="rId25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15787"/>
            <a:ext cx="8929255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276475"/>
            <a:ext cx="8929255" cy="3148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770747" y="6356350"/>
            <a:ext cx="37143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lt-LT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50000"/>
                  </a:schemeClr>
                </a:solidFill>
                <a:latin typeface="GT Walsheim" charset="0"/>
                <a:ea typeface="GT Walsheim" charset="0"/>
                <a:cs typeface="GT Walsheim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0163004" y="52181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527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76" r:id="rId2"/>
    <p:sldLayoutId id="2147483678" r:id="rId3"/>
    <p:sldLayoutId id="2147483683" r:id="rId4"/>
    <p:sldLayoutId id="2147483709" r:id="rId5"/>
    <p:sldLayoutId id="2147483654" r:id="rId6"/>
    <p:sldLayoutId id="2147483655" r:id="rId7"/>
    <p:sldLayoutId id="2147483680" r:id="rId8"/>
    <p:sldLayoutId id="2147483677" r:id="rId9"/>
    <p:sldLayoutId id="2147483656" r:id="rId10"/>
    <p:sldLayoutId id="2147483658" r:id="rId11"/>
    <p:sldLayoutId id="2147483684" r:id="rId12"/>
    <p:sldLayoutId id="2147483679" r:id="rId13"/>
    <p:sldLayoutId id="2147483685" r:id="rId14"/>
    <p:sldLayoutId id="2147483686" r:id="rId15"/>
    <p:sldLayoutId id="2147483730" r:id="rId16"/>
    <p:sldLayoutId id="2147483731" r:id="rId17"/>
    <p:sldLayoutId id="2147483734" r:id="rId18"/>
    <p:sldLayoutId id="2147483735" r:id="rId19"/>
    <p:sldLayoutId id="2147483659" r:id="rId20"/>
    <p:sldLayoutId id="2147483687" r:id="rId21"/>
    <p:sldLayoutId id="2147483688" r:id="rId22"/>
    <p:sldLayoutId id="2147483682" r:id="rId2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Arial" charset="0"/>
          <a:ea typeface="Arial" charset="0"/>
          <a:cs typeface="Arial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8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" userDrawn="1">
          <p15:clr>
            <a:srgbClr val="F26B43"/>
          </p15:clr>
        </p15:guide>
        <p15:guide id="2" userDrawn="1">
          <p15:clr>
            <a:srgbClr val="F26B43"/>
          </p15:clr>
        </p15:guide>
        <p15:guide id="3" pos="5768" userDrawn="1">
          <p15:clr>
            <a:srgbClr val="F26B43"/>
          </p15:clr>
        </p15:guide>
        <p15:guide id="4" pos="1912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7680" userDrawn="1">
          <p15:clr>
            <a:srgbClr val="F26B43"/>
          </p15:clr>
        </p15:guide>
        <p15:guide id="7" orient="horz" pos="1434" userDrawn="1">
          <p15:clr>
            <a:srgbClr val="F26B43"/>
          </p15:clr>
        </p15:guide>
        <p15:guide id="8" orient="horz" pos="2886" userDrawn="1">
          <p15:clr>
            <a:srgbClr val="F26B43"/>
          </p15:clr>
        </p15:guide>
        <p15:guide id="9" orient="horz" pos="4315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0163004" y="521818"/>
            <a:ext cx="1447800" cy="444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15787"/>
            <a:ext cx="8929255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276475"/>
            <a:ext cx="8929255" cy="3148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770747" y="6356350"/>
            <a:ext cx="37143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lt-LT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50000"/>
                  </a:schemeClr>
                </a:solidFill>
                <a:latin typeface="GT Walsheim" charset="0"/>
                <a:ea typeface="GT Walsheim" charset="0"/>
                <a:cs typeface="GT Walsheim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7819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  <p:sldLayoutId id="2147483725" r:id="rId15"/>
    <p:sldLayoutId id="2147483732" r:id="rId16"/>
    <p:sldLayoutId id="2147483733" r:id="rId17"/>
    <p:sldLayoutId id="2147483736" r:id="rId18"/>
    <p:sldLayoutId id="2147483737" r:id="rId19"/>
    <p:sldLayoutId id="2147483726" r:id="rId20"/>
    <p:sldLayoutId id="2147483727" r:id="rId21"/>
    <p:sldLayoutId id="2147483728" r:id="rId22"/>
    <p:sldLayoutId id="2147483729" r:id="rId2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/>
        <a:buNone/>
        <a:defRPr sz="200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8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">
          <p15:clr>
            <a:srgbClr val="F26B43"/>
          </p15:clr>
        </p15:guide>
        <p15:guide id="2">
          <p15:clr>
            <a:srgbClr val="F26B43"/>
          </p15:clr>
        </p15:guide>
        <p15:guide id="3" pos="5768">
          <p15:clr>
            <a:srgbClr val="F26B43"/>
          </p15:clr>
        </p15:guide>
        <p15:guide id="4" pos="1912">
          <p15:clr>
            <a:srgbClr val="F26B43"/>
          </p15:clr>
        </p15:guide>
        <p15:guide id="5" pos="3840">
          <p15:clr>
            <a:srgbClr val="F26B43"/>
          </p15:clr>
        </p15:guide>
        <p15:guide id="6" pos="7680">
          <p15:clr>
            <a:srgbClr val="F26B43"/>
          </p15:clr>
        </p15:guide>
        <p15:guide id="7" orient="horz" pos="1434">
          <p15:clr>
            <a:srgbClr val="F26B43"/>
          </p15:clr>
        </p15:guide>
        <p15:guide id="8" orient="horz" pos="2886">
          <p15:clr>
            <a:srgbClr val="F26B43"/>
          </p15:clr>
        </p15:guide>
        <p15:guide id="9" orient="horz" pos="431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3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3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6.png"/><Relationship Id="rId3" Type="http://schemas.openxmlformats.org/officeDocument/2006/relationships/image" Target="../media/image4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9.png"/><Relationship Id="rId3" Type="http://schemas.openxmlformats.org/officeDocument/2006/relationships/image" Target="../media/image4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0.png"/><Relationship Id="rId3" Type="http://schemas.openxmlformats.org/officeDocument/2006/relationships/image" Target="../media/image4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34.png"/><Relationship Id="rId7" Type="http://schemas.openxmlformats.org/officeDocument/2006/relationships/image" Target="../media/image5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6.png"/><Relationship Id="rId3" Type="http://schemas.openxmlformats.org/officeDocument/2006/relationships/image" Target="../media/image37.png"/><Relationship Id="rId4" Type="http://schemas.openxmlformats.org/officeDocument/2006/relationships/image" Target="../media/image5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51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1.png"/><Relationship Id="rId3" Type="http://schemas.openxmlformats.org/officeDocument/2006/relationships/image" Target="../media/image42.png"/><Relationship Id="rId4" Type="http://schemas.openxmlformats.org/officeDocument/2006/relationships/image" Target="../media/image5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NAUDOTŲ VOLKSWAGEN KAINŲ PROGNOZĖ TAIKANT HLM</a:t>
            </a:r>
            <a:endParaRPr lang="en-US" sz="5400" dirty="0"/>
          </a:p>
        </p:txBody>
      </p:sp>
      <p:sp>
        <p:nvSpPr>
          <p:cNvPr id="3" name="TextBox 2"/>
          <p:cNvSpPr txBox="1"/>
          <p:nvPr/>
        </p:nvSpPr>
        <p:spPr>
          <a:xfrm>
            <a:off x="3127248" y="580644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Savarankiškas HLM · K6(10) · Taikomoji daugiamatė analizė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Lidija Puščiūtė, Darja Baranova · 2026</a:t>
            </a:r>
          </a:p>
        </p:txBody>
      </p:sp>
    </p:spTree>
    <p:extLst>
      <p:ext uri="{BB962C8B-B14F-4D97-AF65-F5344CB8AC3E}">
        <p14:creationId xmlns:p14="http://schemas.microsoft.com/office/powerpoint/2010/main" val="183764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Duomenys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 dirty="0">
                <a:solidFill>
                  <a:srgbClr val="797979"/>
                </a:solidFill>
                <a:latin typeface="Arial"/>
              </a:rPr>
              <a:t>K6 HLM · VW </a:t>
            </a:r>
            <a:r>
              <a:rPr sz="1000" b="0" i="0" dirty="0" err="1">
                <a:solidFill>
                  <a:srgbClr val="797979"/>
                </a:solidFill>
                <a:latin typeface="Arial"/>
              </a:rPr>
              <a:t>kainos</a:t>
            </a:r>
            <a:r>
              <a:rPr sz="1000" b="0" i="0" dirty="0">
                <a:solidFill>
                  <a:srgbClr val="797979"/>
                </a:solidFill>
                <a:latin typeface="Arial"/>
              </a:rPr>
              <a:t>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 dirty="0">
                <a:solidFill>
                  <a:srgbClr val="3B3C3A"/>
                </a:solidFill>
                <a:latin typeface="Arial"/>
              </a:rPr>
              <a:t>Duomenų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rinkinys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„100,000 UK Used Car Data set“ (Kaggle,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failas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vw.csv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) –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naudotų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Volkswagen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automobilių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pardavimo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skelbimai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Jungtinėje Karalystėje (2020 m.):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5152" y="2426253"/>
            <a:ext cx="10515600" cy="303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b="1" dirty="0"/>
              <a:t>I </a:t>
            </a:r>
            <a:r>
              <a:rPr lang="en-US" b="1" dirty="0" err="1"/>
              <a:t>lygmuo</a:t>
            </a:r>
            <a:r>
              <a:rPr lang="en-US" b="1" dirty="0"/>
              <a:t> – </a:t>
            </a:r>
            <a:r>
              <a:rPr lang="en-US" b="1" dirty="0" err="1"/>
              <a:t>parduodamas</a:t>
            </a:r>
            <a:r>
              <a:rPr lang="en-US" b="1" dirty="0"/>
              <a:t> </a:t>
            </a:r>
            <a:r>
              <a:rPr lang="en-US" b="1" dirty="0" err="1"/>
              <a:t>automobilis</a:t>
            </a:r>
            <a:r>
              <a:rPr lang="en-US" b="1" dirty="0"/>
              <a:t> (</a:t>
            </a:r>
            <a:r>
              <a:rPr lang="en-US" i="1" dirty="0"/>
              <a:t>Kaip </a:t>
            </a:r>
            <a:r>
              <a:rPr lang="en-US" i="1" dirty="0" err="1"/>
              <a:t>konkretaus</a:t>
            </a:r>
            <a:r>
              <a:rPr lang="en-US" i="1" dirty="0"/>
              <a:t> </a:t>
            </a:r>
            <a:r>
              <a:rPr lang="en-US" i="1" dirty="0" err="1"/>
              <a:t>automobilio</a:t>
            </a:r>
            <a:r>
              <a:rPr lang="en-US" i="1" dirty="0"/>
              <a:t> </a:t>
            </a:r>
            <a:r>
              <a:rPr lang="en-US" i="1" dirty="0" err="1"/>
              <a:t>rida</a:t>
            </a:r>
            <a:r>
              <a:rPr lang="en-US" i="1" dirty="0"/>
              <a:t> </a:t>
            </a:r>
            <a:r>
              <a:rPr lang="en-US" i="1" dirty="0" err="1"/>
              <a:t>ar</a:t>
            </a:r>
            <a:r>
              <a:rPr lang="en-US" i="1" dirty="0"/>
              <a:t> </a:t>
            </a:r>
            <a:r>
              <a:rPr lang="en-US" i="1" dirty="0" err="1"/>
              <a:t>amžius</a:t>
            </a:r>
            <a:r>
              <a:rPr lang="en-US" i="1" dirty="0"/>
              <a:t> </a:t>
            </a:r>
            <a:r>
              <a:rPr lang="en-US" i="1" dirty="0" err="1"/>
              <a:t>mažina</a:t>
            </a:r>
            <a:r>
              <a:rPr lang="en-US" i="1" dirty="0"/>
              <a:t> jo </a:t>
            </a:r>
            <a:r>
              <a:rPr lang="en-US" i="1" dirty="0" err="1"/>
              <a:t>kainą</a:t>
            </a:r>
            <a:r>
              <a:rPr lang="en-US" i="1" dirty="0"/>
              <a:t>?</a:t>
            </a:r>
            <a:r>
              <a:rPr lang="en-US" b="1" dirty="0"/>
              <a:t>):</a:t>
            </a: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kaina</a:t>
            </a:r>
            <a:r>
              <a:rPr lang="en-US" dirty="0"/>
              <a:t> – </a:t>
            </a:r>
            <a:r>
              <a:rPr lang="en-US" dirty="0" err="1"/>
              <a:t>priklausomas</a:t>
            </a:r>
            <a:r>
              <a:rPr lang="en-US" dirty="0"/>
              <a:t> </a:t>
            </a:r>
            <a:r>
              <a:rPr lang="en-US" dirty="0" err="1"/>
              <a:t>kintamasis</a:t>
            </a:r>
            <a:r>
              <a:rPr lang="en-US" dirty="0"/>
              <a:t>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amzius</a:t>
            </a:r>
            <a:r>
              <a:rPr lang="en-US" dirty="0"/>
              <a:t> – </a:t>
            </a:r>
            <a:r>
              <a:rPr lang="en-US" dirty="0" err="1"/>
              <a:t>kiek</a:t>
            </a:r>
            <a:r>
              <a:rPr lang="en-US" dirty="0"/>
              <a:t> </a:t>
            </a:r>
            <a:r>
              <a:rPr lang="en-US" dirty="0" err="1"/>
              <a:t>metų</a:t>
            </a:r>
            <a:r>
              <a:rPr lang="en-US" dirty="0"/>
              <a:t> </a:t>
            </a:r>
            <a:r>
              <a:rPr lang="en-US" dirty="0" err="1"/>
              <a:t>mašinai</a:t>
            </a:r>
            <a:r>
              <a:rPr lang="en-US" dirty="0"/>
              <a:t>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rida</a:t>
            </a:r>
            <a:r>
              <a:rPr lang="en-US" dirty="0"/>
              <a:t> – </a:t>
            </a:r>
            <a:r>
              <a:rPr lang="en-US" dirty="0" err="1"/>
              <a:t>kiek</a:t>
            </a:r>
            <a:r>
              <a:rPr lang="en-US" dirty="0"/>
              <a:t> </a:t>
            </a:r>
            <a:r>
              <a:rPr lang="en-US" dirty="0" err="1"/>
              <a:t>mylių</a:t>
            </a:r>
            <a:r>
              <a:rPr lang="en-US" dirty="0"/>
              <a:t> </a:t>
            </a:r>
            <a:r>
              <a:rPr lang="en-US" dirty="0" err="1"/>
              <a:t>mašina</a:t>
            </a:r>
            <a:r>
              <a:rPr lang="en-US" dirty="0"/>
              <a:t> </a:t>
            </a:r>
            <a:r>
              <a:rPr lang="en-US" dirty="0" err="1"/>
              <a:t>nuvažiavusi</a:t>
            </a:r>
            <a:r>
              <a:rPr lang="en-US" dirty="0"/>
              <a:t>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mpg – automobilio degalų sąnaudos;</a:t>
            </a: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transmission – pavarų dėžė (Automatic, Manual, Semi-Auto);</a:t>
            </a: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fuelType – kuro tipas (Diesel, Petrol).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II </a:t>
            </a:r>
            <a:r>
              <a:rPr lang="en-US" b="1" dirty="0" err="1"/>
              <a:t>lygmuo</a:t>
            </a:r>
            <a:r>
              <a:rPr lang="en-US" b="1" dirty="0"/>
              <a:t> – </a:t>
            </a:r>
            <a:r>
              <a:rPr lang="en-US" b="1" dirty="0" err="1"/>
              <a:t>automobilio</a:t>
            </a:r>
            <a:r>
              <a:rPr lang="en-US" b="1" dirty="0"/>
              <a:t> </a:t>
            </a:r>
            <a:r>
              <a:rPr lang="en-US" b="1" dirty="0" err="1"/>
              <a:t>modelis</a:t>
            </a:r>
            <a:r>
              <a:rPr lang="en-US" b="1" dirty="0"/>
              <a:t> (</a:t>
            </a:r>
            <a:r>
              <a:rPr lang="en-US" i="1" dirty="0" err="1"/>
              <a:t>Kodėl</a:t>
            </a:r>
            <a:r>
              <a:rPr lang="en-US" i="1" dirty="0"/>
              <a:t> </a:t>
            </a:r>
            <a:r>
              <a:rPr lang="en-US" i="1" dirty="0" err="1"/>
              <a:t>vieni</a:t>
            </a:r>
            <a:r>
              <a:rPr lang="en-US" i="1" dirty="0"/>
              <a:t> </a:t>
            </a:r>
            <a:r>
              <a:rPr lang="en-US" i="1" dirty="0" err="1"/>
              <a:t>modeliai</a:t>
            </a:r>
            <a:r>
              <a:rPr lang="en-US" i="1" dirty="0"/>
              <a:t> </a:t>
            </a:r>
            <a:r>
              <a:rPr lang="en-US" i="1" dirty="0" err="1"/>
              <a:t>apskritai</a:t>
            </a:r>
            <a:r>
              <a:rPr lang="en-US" i="1" dirty="0"/>
              <a:t> </a:t>
            </a:r>
            <a:r>
              <a:rPr lang="en-US" i="1" dirty="0" err="1"/>
              <a:t>kainuoja</a:t>
            </a:r>
            <a:r>
              <a:rPr lang="en-US" i="1" dirty="0"/>
              <a:t> </a:t>
            </a:r>
            <a:r>
              <a:rPr lang="en-US" i="1" dirty="0" err="1"/>
              <a:t>brangiau</a:t>
            </a:r>
            <a:r>
              <a:rPr lang="en-US" i="1" dirty="0"/>
              <a:t> </a:t>
            </a:r>
            <a:r>
              <a:rPr lang="en-US" i="1" dirty="0" err="1"/>
              <a:t>nei</a:t>
            </a:r>
            <a:r>
              <a:rPr lang="en-US" i="1" dirty="0"/>
              <a:t> </a:t>
            </a:r>
            <a:r>
              <a:rPr lang="en-US" i="1" dirty="0" err="1"/>
              <a:t>kiti</a:t>
            </a:r>
            <a:r>
              <a:rPr lang="en-US" i="1" dirty="0"/>
              <a:t>, </a:t>
            </a:r>
            <a:r>
              <a:rPr lang="en-US" i="1" dirty="0" err="1"/>
              <a:t>ir</a:t>
            </a:r>
            <a:r>
              <a:rPr lang="en-US" i="1" dirty="0"/>
              <a:t> </a:t>
            </a:r>
            <a:r>
              <a:rPr lang="en-US" i="1" dirty="0" err="1"/>
              <a:t>kodėl</a:t>
            </a:r>
            <a:r>
              <a:rPr lang="en-US" i="1" dirty="0"/>
              <a:t> kai </a:t>
            </a:r>
            <a:r>
              <a:rPr lang="en-US" i="1" dirty="0" err="1"/>
              <a:t>kurie</a:t>
            </a:r>
            <a:r>
              <a:rPr lang="en-US" i="1" dirty="0"/>
              <a:t> </a:t>
            </a:r>
            <a:r>
              <a:rPr lang="en-US" i="1" dirty="0" err="1"/>
              <a:t>modeliai</a:t>
            </a:r>
            <a:r>
              <a:rPr lang="en-US" i="1" dirty="0"/>
              <a:t> </a:t>
            </a:r>
            <a:r>
              <a:rPr lang="en-US" i="1" dirty="0" err="1"/>
              <a:t>nuvertėja</a:t>
            </a:r>
            <a:r>
              <a:rPr lang="en-US" i="1" dirty="0"/>
              <a:t> </a:t>
            </a:r>
            <a:r>
              <a:rPr lang="en-US" i="1" dirty="0" err="1"/>
              <a:t>greičiau</a:t>
            </a:r>
            <a:r>
              <a:rPr lang="en-US" b="1" dirty="0"/>
              <a:t>):</a:t>
            </a:r>
          </a:p>
          <a:p>
            <a:r>
              <a:rPr lang="en-US" dirty="0" err="1"/>
              <a:t>vid_variklis</a:t>
            </a:r>
            <a:r>
              <a:rPr lang="en-US" dirty="0"/>
              <a:t> – </a:t>
            </a:r>
            <a:r>
              <a:rPr lang="en-US" dirty="0" err="1"/>
              <a:t>modelio</a:t>
            </a:r>
            <a:r>
              <a:rPr lang="en-US" dirty="0"/>
              <a:t> </a:t>
            </a:r>
            <a:r>
              <a:rPr lang="en-US" dirty="0" err="1"/>
              <a:t>vidutinis</a:t>
            </a:r>
            <a:r>
              <a:rPr lang="en-US" dirty="0"/>
              <a:t> </a:t>
            </a:r>
            <a:r>
              <a:rPr lang="en-US" dirty="0" err="1"/>
              <a:t>variklio</a:t>
            </a:r>
            <a:r>
              <a:rPr lang="en-US" dirty="0"/>
              <a:t> </a:t>
            </a:r>
            <a:r>
              <a:rPr lang="en-US" dirty="0" err="1"/>
              <a:t>tūris</a:t>
            </a:r>
            <a:r>
              <a:rPr lang="en-US" dirty="0"/>
              <a:t> (</a:t>
            </a:r>
            <a:r>
              <a:rPr lang="en-US" dirty="0" err="1"/>
              <a:t>pvz</a:t>
            </a:r>
            <a:r>
              <a:rPr lang="en-US" dirty="0"/>
              <a:t>. </a:t>
            </a:r>
            <a:r>
              <a:rPr lang="en-US" dirty="0" err="1"/>
              <a:t>visiems</a:t>
            </a:r>
            <a:r>
              <a:rPr lang="en-US" dirty="0"/>
              <a:t> </a:t>
            </a:r>
            <a:r>
              <a:rPr lang="en-US" i="1" dirty="0"/>
              <a:t>Golf</a:t>
            </a:r>
            <a:r>
              <a:rPr lang="en-US" dirty="0"/>
              <a:t> </a:t>
            </a:r>
            <a:r>
              <a:rPr lang="en-US" dirty="0" err="1"/>
              <a:t>automobiliams</a:t>
            </a:r>
            <a:r>
              <a:rPr lang="en-US" dirty="0"/>
              <a:t> </a:t>
            </a:r>
            <a:r>
              <a:rPr lang="en-US" dirty="0" err="1"/>
              <a:t>ši</a:t>
            </a:r>
            <a:r>
              <a:rPr lang="en-US" dirty="0"/>
              <a:t> </a:t>
            </a:r>
            <a:r>
              <a:rPr lang="en-US" dirty="0" err="1"/>
              <a:t>reikšmė</a:t>
            </a:r>
            <a:r>
              <a:rPr lang="en-US" dirty="0"/>
              <a:t> bus </a:t>
            </a:r>
            <a:r>
              <a:rPr lang="en-US" dirty="0" err="1"/>
              <a:t>vienoda</a:t>
            </a:r>
            <a:r>
              <a:rPr lang="en-US" dirty="0"/>
              <a:t>).</a:t>
            </a:r>
          </a:p>
          <a:p>
            <a:pPr marL="285750" indent="-285750" algn="l">
              <a:spcAft>
                <a:spcPts val="800"/>
              </a:spcAft>
              <a:buChar char="•"/>
            </a:pPr>
            <a:endParaRPr sz="1700" b="0" i="0" dirty="0">
              <a:solidFill>
                <a:srgbClr val="3B3C3A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35152" y="5806440"/>
            <a:ext cx="10515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 dirty="0">
                <a:solidFill>
                  <a:schemeClr val="accent3">
                    <a:lumMod val="50000"/>
                  </a:schemeClr>
                </a:solidFill>
                <a:latin typeface="Arial"/>
              </a:rPr>
              <a:t>Po valymo: n = 14 864 automobiliai, 21 modelis. transmission ir fuelType – kategoriniai (nominalūs), kiti – intervaliniai.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Normalumo testas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3</a:t>
            </a:r>
          </a:p>
        </p:txBody>
      </p:sp>
      <p:pic>
        <p:nvPicPr>
          <p:cNvPr id="4" name="Picture 3" descr="Priklausomo kintamojo histogram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37360"/>
            <a:ext cx="6309360" cy="41416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78308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Priklausomo kintamojo histograma</a:t>
            </a:r>
          </a:p>
        </p:txBody>
      </p:sp>
      <p:pic>
        <p:nvPicPr>
          <p:cNvPr id="6" name="Picture 5" descr="o_shapir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286000"/>
            <a:ext cx="3840480" cy="11595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3611880"/>
            <a:ext cx="38404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Shapiro testas normalumą atmeta (p &lt; 0,05), tačiau W = 0,986 artimas 1, o histograma beveik simetriška – nukrypimas tik kairėje uodegoje.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Besąlyginis modelis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4</a:t>
            </a:r>
          </a:p>
        </p:txBody>
      </p:sp>
      <p:pic>
        <p:nvPicPr>
          <p:cNvPr id="7" name="Picture 6" descr="e_m0c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1828800"/>
            <a:ext cx="5029200" cy="1406682"/>
          </a:xfrm>
          <a:prstGeom prst="rect">
            <a:avLst/>
          </a:prstGeom>
        </p:spPr>
      </p:pic>
      <p:pic>
        <p:nvPicPr>
          <p:cNvPr id="8" name="Picture 7" descr="o_m0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1691640"/>
            <a:ext cx="5166360" cy="2857500"/>
          </a:xfrm>
          <a:prstGeom prst="rect">
            <a:avLst/>
          </a:prstGeom>
        </p:spPr>
      </p:pic>
      <p:pic>
        <p:nvPicPr>
          <p:cNvPr id="9" name="Picture 8" descr="e_m0estc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" y="5394960"/>
            <a:ext cx="7790688" cy="4145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ICC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5</a:t>
            </a:r>
          </a:p>
        </p:txBody>
      </p:sp>
      <p:pic>
        <p:nvPicPr>
          <p:cNvPr id="5" name="Picture 4" descr="e_h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77440"/>
            <a:ext cx="1399032" cy="499871"/>
          </a:xfrm>
          <a:prstGeom prst="rect">
            <a:avLst/>
          </a:prstGeom>
        </p:spPr>
      </p:pic>
      <p:pic>
        <p:nvPicPr>
          <p:cNvPr id="6" name="Picture 5" descr="e_h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5808" y="2377440"/>
            <a:ext cx="1383792" cy="481583"/>
          </a:xfrm>
          <a:prstGeom prst="rect">
            <a:avLst/>
          </a:prstGeom>
        </p:spPr>
      </p:pic>
      <p:pic>
        <p:nvPicPr>
          <p:cNvPr id="7" name="Picture 6" descr="e_h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0368" y="2377440"/>
            <a:ext cx="1359408" cy="5547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" y="320040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H0: γ00 = 0 neatmetama (p = 0,181) – duomenys centruoti. H0: τ00 = 0 ir H0: σ² = 0 atmetamos, t. y. τ00 &gt; 0, σ² &gt; 0.</a:t>
            </a:r>
          </a:p>
        </p:txBody>
      </p:sp>
      <p:pic>
        <p:nvPicPr>
          <p:cNvPr id="9" name="Picture 8" descr="e_ic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977639"/>
            <a:ext cx="6400800" cy="923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512064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7A003B"/>
                </a:solidFill>
                <a:latin typeface="Arial"/>
              </a:rPr>
              <a:t>Apie 65,4 % naudotų VW kainų priklauso nuo automobilio modelio.</a:t>
            </a:r>
          </a:p>
        </p:txBody>
      </p:sp>
      <p:pic>
        <p:nvPicPr>
          <p:cNvPr id="11" name="Picture 10" descr="o_m0in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1691640"/>
            <a:ext cx="3703320" cy="16242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5240" y="3407343"/>
            <a:ext cx="37033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97979"/>
                </a:solidFill>
                <a:latin typeface="Arial"/>
              </a:rPr>
              <a:t>intervals(model.0): standartinių nuokrypių PI neapima 0.</a:t>
            </a:r>
          </a:p>
        </p:txBody>
      </p:sp>
      <p:pic>
        <p:nvPicPr>
          <p:cNvPr id="13" name="Picture 12" descr="e_m0estc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" y="1691640"/>
            <a:ext cx="6400787" cy="3405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I lygmens kintamųjų koreliacijos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6</a:t>
            </a:r>
          </a:p>
        </p:txBody>
      </p:sp>
      <p:pic>
        <p:nvPicPr>
          <p:cNvPr id="4" name="Picture 3" descr="o_c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28800"/>
            <a:ext cx="5029200" cy="1905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402336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Stipriausiai koreliuoja amžius ir rida (r = 0,763): senesni automobiliai daugiau nuvažiavę.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Koreliacija mažesnė už 0,8, todėl stipraus multikolinearumo nėra – abu kintamieji paliekami. mpg su kitais koreliuoja vidutiniškai (≈ 0,40).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Dviejų lygmenų modelis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mpg, transmission, fuelType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854067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mpg, Manual, SemiAuto, Petrol (pseudokintamieji; bazinės kategorijos – Automatic, Diesel)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  <p:pic>
        <p:nvPicPr>
          <p:cNvPr id="7" name="Picture 6" descr="e_m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31720"/>
            <a:ext cx="10607040" cy="22480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Parametrų įverčiai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8</a:t>
            </a:r>
          </a:p>
        </p:txBody>
      </p:sp>
      <p:pic>
        <p:nvPicPr>
          <p:cNvPr id="6" name="Picture 5" descr="o_m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691640"/>
            <a:ext cx="6535972" cy="4572000"/>
          </a:xfrm>
          <a:prstGeom prst="rect">
            <a:avLst/>
          </a:prstGeom>
        </p:spPr>
      </p:pic>
      <p:pic>
        <p:nvPicPr>
          <p:cNvPr id="7" name="Picture 6" descr="e_m1es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7260" y="1783080"/>
            <a:ext cx="2670048" cy="38008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Modelis su sąveika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mpg, transmission, fuelType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854067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mpg, vid_variklis·amzius, Manual, SemiAuto, Petrol (pseudokintamieji; bazinės kategorijos – Automatic, Diesel)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  <p:pic>
        <p:nvPicPr>
          <p:cNvPr id="7" name="Picture 6" descr="e_m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31720"/>
            <a:ext cx="10607040" cy="22480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502920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3B3C3A"/>
                </a:solidFill>
                <a:latin typeface="Arial"/>
              </a:rPr>
              <a:t>Modelio be sąveikos Akaikės indeksas: −16 554,14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3B3C3A"/>
                </a:solidFill>
                <a:latin typeface="Arial"/>
              </a:rPr>
              <a:t>Modelio su sąveika I Akaikės indeksas: −16 553,56  (L.Ratio = 1,42; p = 0,234)</a:t>
            </a:r>
          </a:p>
        </p:txBody>
      </p:sp>
      <p:pic>
        <p:nvPicPr>
          <p:cNvPr id="6" name="Picture 5" descr="o_m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691640"/>
            <a:ext cx="4384547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Modelis su sąveika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mpg, transmission, fuelType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854067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mpg, vid_variklis·rida, Manual, SemiAuto, Petrol (pseudokintamieji; bazinės kategorijos – Automatic, Diesel)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  <p:pic>
        <p:nvPicPr>
          <p:cNvPr id="7" name="Picture 6" descr="e_m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2331720"/>
            <a:ext cx="10607040" cy="224802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1783080"/>
            <a:ext cx="324612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B3C3A"/>
                </a:solidFill>
                <a:latin typeface="Arial"/>
              </a:rPr>
              <a:t>Modelio be sąveikos Akaikės indeksas: −16 554,14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B3C3A"/>
                </a:solidFill>
                <a:latin typeface="Arial"/>
              </a:rPr>
              <a:t>Modelio su sąveika 2 Akaikės indeksas: −16 553,97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7A003B"/>
                </a:solidFill>
                <a:latin typeface="Arial"/>
              </a:rPr>
              <a:t>Sąveikos koeficientas nereikšmingas (p = 0,175); AIC nesumažėjo, L.Ratio = 1,83, p = 0,176.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83387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3B3C3A"/>
                </a:solidFill>
                <a:latin typeface="Arial"/>
              </a:rPr>
              <a:t>Abi sąveikos nereikalingos – galutiniu modeliu renkamės dviejų lygmenų modelį be sąveikų.</a:t>
            </a:r>
          </a:p>
        </p:txBody>
      </p:sp>
      <p:pic>
        <p:nvPicPr>
          <p:cNvPr id="10" name="Picture 9" descr="o_m3m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1691640"/>
            <a:ext cx="4384547" cy="3200400"/>
          </a:xfrm>
          <a:prstGeom prst="rect">
            <a:avLst/>
          </a:prstGeom>
        </p:spPr>
      </p:pic>
      <p:pic>
        <p:nvPicPr>
          <p:cNvPr id="11" name="Picture 10" descr="o_a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" y="4983480"/>
            <a:ext cx="6855256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Galutinio modelio jungtinė lygtis su įverčiais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700528"/>
            <a:ext cx="1051560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Visi fiksuoto poveikio parametrai statistiškai reikšmingi (p &lt; 0,05).</a:t>
            </a:r>
          </a:p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Y = log(kaina), todėl poveikis procentais = (e^koef − 1)·100: kiekvieni metai −8,8 %, 1000 mylių ridos −0,46 %; mechaninė dėžė −10,5 %, Semi-Auto +1,2 % (palyginti su automatine), benzinas −7,5 % (palyginti su dyzeliu).</a:t>
            </a:r>
          </a:p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+1 mpg sumažina kainą ≈ 0,83 %; modelis su 1 l didesniu vidutiniu varikliu ≈ 44 % brangesnis.</a:t>
            </a:r>
          </a:p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Amžiaus nuolydžio st. nuokrypis 0,025 – modeliai nuvertėja nevienodai (Caravelle ≈ 5,4 %, Beetle ≈ 13,2 % per metus).</a:t>
            </a:r>
          </a:p>
        </p:txBody>
      </p:sp>
      <p:pic>
        <p:nvPicPr>
          <p:cNvPr id="6" name="Picture 5" descr="e_join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783080"/>
            <a:ext cx="10015728" cy="6888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Lyginant su besąlyginiu modeliu 82,4 % sumažėjo modeliu nepaaiškintų kainų skirtumų: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Akaikės indeksas sumažėjo 25 758 vienetais (&gt; 10) – AIC(model.0ml, model.1ml):</a:t>
            </a:r>
          </a:p>
        </p:txBody>
      </p:sp>
      <p:pic>
        <p:nvPicPr>
          <p:cNvPr id="12" name="Picture 11" descr="e_sigma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080" y="2194560"/>
            <a:ext cx="6121184" cy="1097278"/>
          </a:xfrm>
          <a:prstGeom prst="rect">
            <a:avLst/>
          </a:prstGeom>
        </p:spPr>
      </p:pic>
      <p:pic>
        <p:nvPicPr>
          <p:cNvPr id="13" name="Picture 12" descr="o_aic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248" y="4206240"/>
            <a:ext cx="2688336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Prielaidų tikrinimas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53212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qqnorm(model.1, ~resid(.)) – visai panašu į normalumą, nukrypimai tik kairėje uodegoje. Liekanų sklaida apie 0 vienoda – homoskedastiškumas tenkinamas.</a:t>
            </a:r>
          </a:p>
        </p:txBody>
      </p:sp>
      <p:pic>
        <p:nvPicPr>
          <p:cNvPr id="9" name="Picture 8" descr="Liekanų q-q grafika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1737360"/>
            <a:ext cx="5074920" cy="3721608"/>
          </a:xfrm>
          <a:prstGeom prst="rect">
            <a:avLst/>
          </a:prstGeom>
        </p:spPr>
      </p:pic>
      <p:pic>
        <p:nvPicPr>
          <p:cNvPr id="10" name="Picture 9" descr="Liekanos prieš prognozuojamas reikšm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1928" y="1737360"/>
            <a:ext cx="5074920" cy="37216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Prielaidų tikrinimas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920240"/>
            <a:ext cx="292608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qqnorm(model.1, ~ranef(.))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Atsitiktinių efektų u0 ir u1 taškai išsidėstę apie tiesę – normalumas apytiksliai tenkinamas.</a:t>
            </a:r>
          </a:p>
        </p:txBody>
      </p:sp>
      <p:pic>
        <p:nvPicPr>
          <p:cNvPr id="6" name="Picture 5" descr="Atsitiktinių efektų q-q grafika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783080"/>
            <a:ext cx="7315200" cy="3576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Kas negerai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28800"/>
            <a:ext cx="105156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Abudu modeliai su sąveikomis turėjo nereikšmingus sąveikų koeficientus (p = 0,223 ir p = 0,175) – sąveikos modelyje nereikalingos.</a:t>
            </a:r>
          </a:p>
          <a:p>
            <a:pPr marL="285750" indent="-285750" algn="l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Didelėje imtyje (n = 14 864) statistiškai reikšmingi tampa ir maži efektai, todėl vertiname ir AIC pokytį bei koeficientų dydį.</a:t>
            </a:r>
          </a:p>
          <a:p>
            <a:pPr marL="285750" indent="-285750" algn="l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Shapiro testas normalumą atmeta; liekanų kairėje uodegoje – keli itin pigūs skelbimai.</a:t>
            </a:r>
          </a:p>
          <a:p>
            <a:pPr marL="285750" indent="-285750" algn="l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Kainos – skelbimų, ne sandorių; tirta tik viena markė (VW).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 err="1"/>
              <a:t>Lidija Puščiūtė</a:t>
            </a:r>
            <a:endParaRPr lang="en-US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 err="1"/>
              <a:t>Darja Baranova</a:t>
            </a:r>
            <a:endParaRPr lang="en-US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/>
              <a:t>Kodas ir duomenys: github.com/LidijaPu/K6</a:t>
            </a:r>
            <a:br>
              <a:rPr lang="en-US" sz="2000" dirty="0"/>
            </a:br>
            <a:endParaRPr lang="en-US" sz="2000" dirty="0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AČIŪ!</a:t>
            </a:r>
          </a:p>
        </p:txBody>
      </p:sp>
    </p:spTree>
    <p:extLst>
      <p:ext uri="{BB962C8B-B14F-4D97-AF65-F5344CB8AC3E}">
        <p14:creationId xmlns:p14="http://schemas.microsoft.com/office/powerpoint/2010/main" val="87890934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VU">
      <a:dk1>
        <a:srgbClr val="7A003B"/>
      </a:dk1>
      <a:lt1>
        <a:srgbClr val="FFFFFF"/>
      </a:lt1>
      <a:dk2>
        <a:srgbClr val="7A003B"/>
      </a:dk2>
      <a:lt2>
        <a:srgbClr val="FEFFFE"/>
      </a:lt2>
      <a:accent1>
        <a:srgbClr val="E03357"/>
      </a:accent1>
      <a:accent2>
        <a:srgbClr val="E2E3E2"/>
      </a:accent2>
      <a:accent3>
        <a:srgbClr val="3B3C3A"/>
      </a:accent3>
      <a:accent4>
        <a:srgbClr val="989998"/>
      </a:accent4>
      <a:accent5>
        <a:srgbClr val="D5D5D5"/>
      </a:accent5>
      <a:accent6>
        <a:srgbClr val="797979"/>
      </a:accent6>
      <a:hlink>
        <a:srgbClr val="E03357"/>
      </a:hlink>
      <a:folHlink>
        <a:srgbClr val="E2E3E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Custom Design">
  <a:themeElements>
    <a:clrScheme name="VU">
      <a:dk1>
        <a:srgbClr val="7A003B"/>
      </a:dk1>
      <a:lt1>
        <a:srgbClr val="FFFFFF"/>
      </a:lt1>
      <a:dk2>
        <a:srgbClr val="7A003B"/>
      </a:dk2>
      <a:lt2>
        <a:srgbClr val="FEFFFE"/>
      </a:lt2>
      <a:accent1>
        <a:srgbClr val="E03357"/>
      </a:accent1>
      <a:accent2>
        <a:srgbClr val="E2E3E2"/>
      </a:accent2>
      <a:accent3>
        <a:srgbClr val="3B3C3A"/>
      </a:accent3>
      <a:accent4>
        <a:srgbClr val="989998"/>
      </a:accent4>
      <a:accent5>
        <a:srgbClr val="D5D5D5"/>
      </a:accent5>
      <a:accent6>
        <a:srgbClr val="797979"/>
      </a:accent6>
      <a:hlink>
        <a:srgbClr val="E03357"/>
      </a:hlink>
      <a:folHlink>
        <a:srgbClr val="E2E3E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16855</TotalTime>
  <Words>913</Words>
  <Application>Microsoft Macintosh PowerPoint</Application>
  <PresentationFormat>Widescreen</PresentationFormat>
  <Paragraphs>89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GT Walsheim</vt:lpstr>
      <vt:lpstr>Custom Design</vt:lpstr>
      <vt:lpstr>1_Custom Design</vt:lpstr>
      <vt:lpstr>NAUDOTŲ VOLKSWAGEN KAINŲ PROGNOZĖ TAIKANT HLM</vt:lpstr>
      <vt:lpstr>Duomenys</vt:lpstr>
      <vt:lpstr>Normalumo testas</vt:lpstr>
      <vt:lpstr>Besąlyginis modelis</vt:lpstr>
      <vt:lpstr>ICC</vt:lpstr>
      <vt:lpstr>I lygmens kintamųjų koreliacijos</vt:lpstr>
      <vt:lpstr>Dviejų lygmenų modelis</vt:lpstr>
      <vt:lpstr>Parametrų įverčiai</vt:lpstr>
      <vt:lpstr>Modelis su sąveika I</vt:lpstr>
      <vt:lpstr>Modelių palyginimas</vt:lpstr>
      <vt:lpstr>Modelis su sąveika 2</vt:lpstr>
      <vt:lpstr>Modelių palyginimas</vt:lpstr>
      <vt:lpstr>Galutinio modelio parametrų įverčiai</vt:lpstr>
      <vt:lpstr>Jungtinė lygtis su įverčiais</vt:lpstr>
      <vt:lpstr>Modelių palyginimas</vt:lpstr>
      <vt:lpstr>Prielaidų tikrinimas</vt:lpstr>
      <vt:lpstr>Prielaidų tikrinimas</vt:lpstr>
      <vt:lpstr>Kas negerai</vt:lpstr>
      <vt:lpstr>AČIŪ!</vt:lpstr>
    </vt:vector>
  </TitlesOfParts>
  <Company>Vilniaus universitetas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Rokas Aleliūnas</dc:creator>
  <cp:lastModifiedBy>Darja Baranova</cp:lastModifiedBy>
  <cp:revision>98</cp:revision>
  <dcterms:created xsi:type="dcterms:W3CDTF">2017-06-28T06:49:28Z</dcterms:created>
  <dcterms:modified xsi:type="dcterms:W3CDTF">2026-10-29T14:06:05Z</dcterms:modified>
</cp:coreProperties>
</file>