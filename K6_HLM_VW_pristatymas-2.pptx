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13" r:id="rId16"/>
    <p:sldId id="314" r:id="rId17"/>
    <p:sldId id="315" r:id="rId18"/>
    <p:sldId id="317" r:id="rId20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82" autoAdjust="0"/>
    <p:restoredTop sz="95652"/>
  </p:normalViewPr>
  <p:slideViewPr>
    <p:cSldViewPr snapToGrid="0">
      <p:cViewPr varScale="1">
        <p:scale>
          <a:sx n="114" d="100"/>
          <a:sy n="114" d="100"/>
        </p:scale>
        <p:origin x="46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Sveiki. Pristatome savarankišką HLM darbą: kaip naudoto Volkswagen automobilio kaina priklauso nuo paties automobilio savybių ir nuo modelio, kuriam jis priklauso.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Duomenys – Kaggle rinkinys, naudotų VW automobilių skelbimai Jungtinėje Karalystėje, 2020 m. Hierarchija: automobilis yra I lygmuo, modelis (Golf, Polo ir t. t.) – II lygmuo. I lygmens kintamieji: amžius, rida, sąnaudos, pavarų dėžė ir kuro tipas. II lygmens kintamąjį vid_variklis susikūrėme suvidurkinę variklio tūrį kiekvienam modeliui. Išvalę klaidas ir palikę modelius, turinčius bent 30 automobilių, turime 14 864 automobilius ir 21 modelį – daugiau nei reikalaujami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Kaina turi ilgą dešinę uodegą, todėl modeliuojame kainos logaritmą – kaip matyti dešinėje, jo skirstinys beveik simetriškas. Shapiro testas formaliai normalumą atmeta, bet esant beveik 15 tūkstančių stebėjimų jis atmeta ir labai mažus nukrypimus, todėl remiamės histograma.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Pirmiausia – besąlyginis modelis be regresorių. Jį vertinome centruotiems duomenims, kaip siūloma paskaitoje, todėl γ00 artimas nuliui. Iš išvesties imame standartinius nuokrypius ir pakeliame kvadratu: modelių dispersija τ00 ≈ 0,20, automobilių dispersija modelio viduje σ² ≈ 0,11.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Hipotezė apie γ00 neatmetama – centruotiems duomenims taip ir turi būti. Abi dispersijos teigiamos – pasikliautinieji intervalai neapima nulio. ICC = 0,654: apie 65 % kainų skirtumų lemia vien tai, koks tai modelis. Tai gerokai daugiau nei reikalaujama 0,10, todėl hierarchinis modelis būtinas.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Intervalinių I lygmens kintamųjų koreliacijos. Stipriausia – amžiaus ir ridos, 0,763: senesni automobiliai daugiau nuvažiavę. Ji mažesnė už 0,8, todėl stipraus multikolinearumo nėra ir abu kintamuosius paliekame.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Dviejų lygmenų modelis. I lygmenyje kaina aiškinama automobilio savybėmis; kategoriniams kintamiesiems R sukuria pseudokintamuosius Manual, SemiAuto ir Petrol, bazinės kategorijos – automatinė dėžė ir dyzelis. II lygmenyje modelio kainos lygis priklauso nuo vidutinio variklio tūrio, o amžiaus nuolydis turi atsitiktinę dalį u1 – modeliai nuvertėja skirtingu greičiu. Fiksuoto poveikio kintamieji – visi, atsitiktinio – amžius.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Parametrų įverčiai iš summary: visi fiksuoti koeficientai statistiškai reikšmingi. Dispersijos – standartinių nuokrypių kvadratai: τ00 = 0,031, τ11 = 0,0006, σ² = 0,019. Taip pat patikrinome, kad atsitiktinis amžiaus nuolydis reikalingas – be jo AIC padidėja daugiau nei 650.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Bandėme dvi sąveikas tarp lygmenų: ar didesnio variklio modeliai nuvertėja greičiau ir ar jiems rida kainą veikia kitaip. Abiejų koeficientai nereikšmingi, AIC nesumažėjo, todėl sąveikų į galutinį modelį neįtraukėme.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Galutinio modelio jungtinė lygtis su įverčiais. Kadangi modeliuojame logaritmą, koeficientus verčiame procentais: kiekvieni metai sumažina kainą apie 8,8 %, tūkstantis mylių – apie 0,46 %. Mechaninė dėžė apie 10,5 % pigesnė nei automatinė, benzininis apie 7,5 % pigesnis nei dyzelinis. Modeliai su 1 litru didesniu vidutiniu varikliu – apie 44 % brangesni. Pavyzdžiui, Caravelle per metus pigsta tik apie 5 %, Beetle – apie 13 %.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Lyginame su besąlyginiu modeliu. I lygmens dispersija sumažėjo nuo 0,108 iki 0,019 – 82,4 % mažiau nepaaiškintų kainų skirtumų. Akaikės indeksas sumažėjo 25 758 vienetais, o svarbiu laikomas jau 10 vienetų pokytis, todėl modelis daug geresnis.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Prielaidos. Liekanų q-q grafike centrinė dalis guli ant tiesės, nukrypsta tik uodegos – ypač kairė, tai keli itin pigūs skelbimai. Liekanų sklaida prieš prognozes vienoda – homoskedastiškumas tenkinamas. Atsitiktiniai efektai u0 ir u1 irgi apytiksliai normalūs.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Apibendrinant: automobilio modelis lemia apie du trečdalius kainų skirtumų, kainą labiausiai mažina amžius ir rida, pigesni mechaninės dėžės ir benzininiai automobiliai. Sąveikos nepasitvirtino, liekanų uodegos nėra visiškai normalios, o duomenys – skelbimų kainos ir tik viena markė.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Ačiū už dėmesį. Kodas ir duomenys – GitHub. Mielai atsakysime į klausimus.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theme" Target="../theme/theme2.xml"/><Relationship Id="rId25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50.png"/><Relationship Id="rId5" Type="http://schemas.openxmlformats.org/officeDocument/2006/relationships/image" Target="../media/image5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35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35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51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36.png"/><Relationship Id="rId10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Relationship Id="rId11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797979"/>
                </a:solidFill>
                <a:latin typeface="Arial"/>
              </a:rPr>
              <a:t>K6 HLM · VW </a:t>
            </a:r>
            <a:r>
              <a:rPr sz="1000" b="0" i="0" dirty="0" err="1">
                <a:solidFill>
                  <a:srgbClr val="797979"/>
                </a:solidFill>
                <a:latin typeface="Arial"/>
              </a:rPr>
              <a:t>kainos</a:t>
            </a:r>
            <a:r>
              <a:rPr sz="1000" b="0" i="0" dirty="0">
                <a:solidFill>
                  <a:srgbClr val="797979"/>
                </a:solidFill>
                <a:latin typeface="Arial"/>
              </a:rPr>
              <a:t>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 dirty="0">
                <a:solidFill>
                  <a:srgbClr val="3B3C3A"/>
                </a:solidFill>
                <a:latin typeface="Arial"/>
              </a:rPr>
              <a:t>Duomenų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rinkinys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„100,000 UK Used Car Data set“ (Kaggle,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failas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vw.csv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) –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naudotų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Volkswagen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automobilių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pardavimo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skelbimai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5152" y="2426253"/>
            <a:ext cx="10515600" cy="303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parduodamas</a:t>
            </a:r>
            <a:r>
              <a:rPr lang="en-US" b="1" dirty="0"/>
              <a:t> </a:t>
            </a:r>
            <a:r>
              <a:rPr lang="en-US" b="1" dirty="0" err="1"/>
              <a:t>automobilis</a:t>
            </a:r>
            <a:r>
              <a:rPr lang="en-US" b="1" dirty="0"/>
              <a:t> (</a:t>
            </a:r>
            <a:r>
              <a:rPr lang="en-US" i="1" dirty="0"/>
              <a:t>Kaip </a:t>
            </a:r>
            <a:r>
              <a:rPr lang="en-US" i="1" dirty="0" err="1"/>
              <a:t>konkretaus</a:t>
            </a:r>
            <a:r>
              <a:rPr lang="en-US" i="1" dirty="0"/>
              <a:t> </a:t>
            </a:r>
            <a:r>
              <a:rPr lang="en-US" i="1" dirty="0" err="1"/>
              <a:t>automobilio</a:t>
            </a:r>
            <a:r>
              <a:rPr lang="en-US" i="1" dirty="0"/>
              <a:t> </a:t>
            </a:r>
            <a:r>
              <a:rPr lang="en-US" i="1" dirty="0" err="1"/>
              <a:t>rida</a:t>
            </a:r>
            <a:r>
              <a:rPr lang="en-US" i="1" dirty="0"/>
              <a:t> </a:t>
            </a:r>
            <a:r>
              <a:rPr lang="en-US" i="1" dirty="0" err="1"/>
              <a:t>ar</a:t>
            </a:r>
            <a:r>
              <a:rPr lang="en-US" i="1" dirty="0"/>
              <a:t> </a:t>
            </a:r>
            <a:r>
              <a:rPr lang="en-US" i="1" dirty="0" err="1"/>
              <a:t>amžius</a:t>
            </a:r>
            <a:r>
              <a:rPr lang="en-US" i="1" dirty="0"/>
              <a:t> </a:t>
            </a:r>
            <a:r>
              <a:rPr lang="en-US" i="1" dirty="0" err="1"/>
              <a:t>mažina</a:t>
            </a:r>
            <a:r>
              <a:rPr lang="en-US" i="1" dirty="0"/>
              <a:t> jo </a:t>
            </a:r>
            <a:r>
              <a:rPr lang="en-US" i="1" dirty="0" err="1"/>
              <a:t>kainą</a:t>
            </a:r>
            <a:r>
              <a:rPr lang="en-US" i="1" dirty="0"/>
              <a:t>?</a:t>
            </a:r>
            <a:r>
              <a:rPr lang="en-US" b="1" dirty="0"/>
              <a:t>):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kaina</a:t>
            </a:r>
            <a:r>
              <a:rPr lang="en-US" dirty="0"/>
              <a:t> – </a:t>
            </a:r>
            <a:r>
              <a:rPr lang="en-US" dirty="0" err="1"/>
              <a:t>priklausomas</a:t>
            </a:r>
            <a:r>
              <a:rPr lang="en-US" dirty="0"/>
              <a:t> </a:t>
            </a:r>
            <a:r>
              <a:rPr lang="en-US" dirty="0" err="1"/>
              <a:t>kintamasis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amzius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metų</a:t>
            </a:r>
            <a:r>
              <a:rPr lang="en-US" dirty="0"/>
              <a:t> </a:t>
            </a:r>
            <a:r>
              <a:rPr lang="en-US" dirty="0" err="1"/>
              <a:t>mašinai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rida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mylių</a:t>
            </a:r>
            <a:r>
              <a:rPr lang="en-US" dirty="0"/>
              <a:t> </a:t>
            </a:r>
            <a:r>
              <a:rPr lang="en-US" dirty="0" err="1"/>
              <a:t>mašina</a:t>
            </a:r>
            <a:r>
              <a:rPr lang="en-US" dirty="0"/>
              <a:t> </a:t>
            </a:r>
            <a:r>
              <a:rPr lang="en-US" dirty="0" err="1"/>
              <a:t>nuvažiavusi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mpg – automobilio degalų sąnaudos;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transmission – pavarų dėžė (Automatic, Manual, Semi-Auto);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fuelType – kuro tipas (Diesel, Petrol).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automobilio</a:t>
            </a:r>
            <a:r>
              <a:rPr lang="en-US" b="1" dirty="0"/>
              <a:t> </a:t>
            </a:r>
            <a:r>
              <a:rPr lang="en-US" b="1" dirty="0" err="1"/>
              <a:t>modelis</a:t>
            </a:r>
            <a:r>
              <a:rPr lang="en-US" b="1" dirty="0"/>
              <a:t> (</a:t>
            </a:r>
            <a:r>
              <a:rPr lang="en-US" i="1" dirty="0" err="1"/>
              <a:t>Kodėl</a:t>
            </a:r>
            <a:r>
              <a:rPr lang="en-US" i="1" dirty="0"/>
              <a:t> </a:t>
            </a:r>
            <a:r>
              <a:rPr lang="en-US" i="1" dirty="0" err="1"/>
              <a:t>vieni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apskritai</a:t>
            </a:r>
            <a:r>
              <a:rPr lang="en-US" i="1" dirty="0"/>
              <a:t> </a:t>
            </a:r>
            <a:r>
              <a:rPr lang="en-US" i="1" dirty="0" err="1"/>
              <a:t>kainuoja</a:t>
            </a:r>
            <a:r>
              <a:rPr lang="en-US" i="1" dirty="0"/>
              <a:t> </a:t>
            </a:r>
            <a:r>
              <a:rPr lang="en-US" i="1" dirty="0" err="1"/>
              <a:t>brangiau</a:t>
            </a:r>
            <a:r>
              <a:rPr lang="en-US" i="1" dirty="0"/>
              <a:t> </a:t>
            </a:r>
            <a:r>
              <a:rPr lang="en-US" i="1" dirty="0" err="1"/>
              <a:t>nei</a:t>
            </a:r>
            <a:r>
              <a:rPr lang="en-US" i="1" dirty="0"/>
              <a:t> </a:t>
            </a:r>
            <a:r>
              <a:rPr lang="en-US" i="1" dirty="0" err="1"/>
              <a:t>kiti</a:t>
            </a:r>
            <a:r>
              <a:rPr lang="en-US" i="1" dirty="0"/>
              <a:t>, </a:t>
            </a:r>
            <a:r>
              <a:rPr lang="en-US" i="1" dirty="0" err="1"/>
              <a:t>ir</a:t>
            </a:r>
            <a:r>
              <a:rPr lang="en-US" i="1" dirty="0"/>
              <a:t> </a:t>
            </a:r>
            <a:r>
              <a:rPr lang="en-US" i="1" dirty="0" err="1"/>
              <a:t>kodėl</a:t>
            </a:r>
            <a:r>
              <a:rPr lang="en-US" i="1" dirty="0"/>
              <a:t> kai </a:t>
            </a:r>
            <a:r>
              <a:rPr lang="en-US" i="1" dirty="0" err="1"/>
              <a:t>kurie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nuvertėja</a:t>
            </a:r>
            <a:r>
              <a:rPr lang="en-US" i="1" dirty="0"/>
              <a:t> </a:t>
            </a:r>
            <a:r>
              <a:rPr lang="en-US" i="1" dirty="0" err="1"/>
              <a:t>greičiau</a:t>
            </a:r>
            <a:r>
              <a:rPr lang="en-US" b="1" dirty="0"/>
              <a:t>):</a:t>
            </a:r>
          </a:p>
          <a:p>
            <a:r>
              <a:rPr lang="en-US" dirty="0" err="1"/>
              <a:t>vid_variklis</a:t>
            </a:r>
            <a:r>
              <a:rPr lang="en-US" dirty="0"/>
              <a:t> – </a:t>
            </a:r>
            <a:r>
              <a:rPr lang="en-US" dirty="0" err="1"/>
              <a:t>modelio</a:t>
            </a:r>
            <a:r>
              <a:rPr lang="en-US" dirty="0"/>
              <a:t> </a:t>
            </a:r>
            <a:r>
              <a:rPr lang="en-US" dirty="0" err="1"/>
              <a:t>vidutinis</a:t>
            </a:r>
            <a:r>
              <a:rPr lang="en-US" dirty="0"/>
              <a:t> </a:t>
            </a:r>
            <a:r>
              <a:rPr lang="en-US" dirty="0" err="1"/>
              <a:t>variklio</a:t>
            </a:r>
            <a:r>
              <a:rPr lang="en-US" dirty="0"/>
              <a:t> </a:t>
            </a:r>
            <a:r>
              <a:rPr lang="en-US" dirty="0" err="1"/>
              <a:t>tūris</a:t>
            </a:r>
            <a:r>
              <a:rPr lang="en-US" dirty="0"/>
              <a:t> (</a:t>
            </a:r>
            <a:r>
              <a:rPr lang="en-US" dirty="0" err="1"/>
              <a:t>pvz</a:t>
            </a:r>
            <a:r>
              <a:rPr lang="en-US" dirty="0"/>
              <a:t>. </a:t>
            </a:r>
            <a:r>
              <a:rPr lang="en-US" dirty="0" err="1"/>
              <a:t>visiems</a:t>
            </a:r>
            <a:r>
              <a:rPr lang="en-US" dirty="0"/>
              <a:t> </a:t>
            </a:r>
            <a:r>
              <a:rPr lang="en-US" i="1" dirty="0"/>
              <a:t>Golf</a:t>
            </a:r>
            <a:r>
              <a:rPr lang="en-US" dirty="0"/>
              <a:t> </a:t>
            </a:r>
            <a:r>
              <a:rPr lang="en-US" dirty="0" err="1"/>
              <a:t>automobiliams</a:t>
            </a:r>
            <a:r>
              <a:rPr lang="en-US" dirty="0"/>
              <a:t> </a:t>
            </a:r>
            <a:r>
              <a:rPr lang="en-US" dirty="0" err="1"/>
              <a:t>ši</a:t>
            </a:r>
            <a:r>
              <a:rPr lang="en-US" dirty="0"/>
              <a:t> </a:t>
            </a:r>
            <a:r>
              <a:rPr lang="en-US" dirty="0" err="1"/>
              <a:t>reikšmė</a:t>
            </a:r>
            <a:r>
              <a:rPr lang="en-US" dirty="0"/>
              <a:t> bus </a:t>
            </a:r>
            <a:r>
              <a:rPr lang="en-US" dirty="0" err="1"/>
              <a:t>vienoda</a:t>
            </a:r>
            <a:r>
              <a:rPr lang="en-US" dirty="0"/>
              <a:t>).</a:t>
            </a:r>
          </a:p>
          <a:p>
            <a:pPr marL="285750" indent="-285750" algn="l">
              <a:spcAft>
                <a:spcPts val="800"/>
              </a:spcAft>
              <a:buChar char="•"/>
            </a:pPr>
            <a:endParaRPr sz="1700" b="0" i="0" dirty="0">
              <a:solidFill>
                <a:srgbClr val="3B3C3A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5152" y="58064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Po valymo: n = 14 864 automobiliai, 21 modelis. transmission ir fuelType – kategoriniai (nominalūs), kiti – intervaliniai.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Kainos histograma: ilga dešinė uodeg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5120640" cy="3669792"/>
          </a:xfrm>
          <a:prstGeom prst="rect">
            <a:avLst/>
          </a:prstGeom>
        </p:spPr>
      </p:pic>
      <p:pic>
        <p:nvPicPr>
          <p:cNvPr id="5" name="Picture 4" descr="log(kainos) histograma: beveik simetrišk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691640"/>
            <a:ext cx="5120640" cy="3669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4406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3B3C3A"/>
                </a:solidFill>
                <a:latin typeface="Arial"/>
              </a:rPr>
              <a:t>Kaina asimetriška (ilga dešinė uodega), todėl modeliuojame log(kaina) – jos skirstinys beveik simetriškas.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797979"/>
                </a:solidFill>
                <a:latin typeface="Arial"/>
              </a:rPr>
              <a:t>Shapiro–Wilk: W = 0,986 (didelėje imtyje testas atmeta normalumą ir dėl menkų nukrypimų).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7" name="Picture 6" descr="e_m0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1828800"/>
            <a:ext cx="5029200" cy="1406682"/>
          </a:xfrm>
          <a:prstGeom prst="rect">
            <a:avLst/>
          </a:prstGeom>
        </p:spPr>
      </p:pic>
      <p:pic>
        <p:nvPicPr>
          <p:cNvPr id="8" name="Picture 7" descr="o_m0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691640"/>
            <a:ext cx="5166360" cy="2857500"/>
          </a:xfrm>
          <a:prstGeom prst="rect">
            <a:avLst/>
          </a:prstGeom>
        </p:spPr>
      </p:pic>
      <p:pic>
        <p:nvPicPr>
          <p:cNvPr id="9" name="Picture 8" descr="e_m0est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8064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797979"/>
                </a:solidFill>
                <a:latin typeface="Arial"/>
              </a:rPr>
              <a:t>Besąlyginį modelį vertinome centruotiems duomenims, kaip siūloma paskaitoje – ICC ir dispersijos nuo to nesikeičia, tik γ00 tampa ≈ 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H0: γ00 = 0 neatmetama (p = 0,181) – duomenys centruoti. H0: τ00 = 0 ir H0: σ² = 0 atmetamos, t. y.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  <p:pic>
        <p:nvPicPr>
          <p:cNvPr id="13" name="Picture 12" descr="e_m0estc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" y="1691640"/>
            <a:ext cx="6400787" cy="3405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6" name="Picture 5" descr="o_m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6535972" cy="4572000"/>
          </a:xfrm>
          <a:prstGeom prst="rect">
            <a:avLst/>
          </a:prstGeom>
        </p:spPr>
      </p:pic>
      <p:pic>
        <p:nvPicPr>
          <p:cNvPr id="7" name="Picture 6" descr="e_m1e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7260" y="1783080"/>
            <a:ext cx="2670048" cy="38008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Modeliai su sąveika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737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3C3A"/>
                </a:solidFill>
                <a:latin typeface="Arial"/>
              </a:rPr>
              <a:t>Prie dviejų lygmenų modelio po vieną pridėjome II × I lygmenų sąveikas: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2377440"/>
          <a:ext cx="1051560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3383280"/>
                <a:gridCol w="1737360"/>
                <a:gridCol w="155448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Sąveika</a:t>
                      </a:r>
                    </a:p>
                  </a:txBody>
                  <a:tcPr anchor="ctr" marL="91440" marR="91440">
                    <a:solidFill>
                      <a:srgbClr val="7A00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II lygmens lygtis</a:t>
                      </a:r>
                    </a:p>
                  </a:txBody>
                  <a:tcPr anchor="ctr" marL="91440" marR="91440">
                    <a:solidFill>
                      <a:srgbClr val="7A003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Koeficientas (p)</a:t>
                      </a:r>
                    </a:p>
                  </a:txBody>
                  <a:tcPr anchor="ctr" marL="91440" marR="91440">
                    <a:solidFill>
                      <a:srgbClr val="7A003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AIC</a:t>
                      </a:r>
                    </a:p>
                  </a:txBody>
                  <a:tcPr anchor="ctr" marL="91440" marR="91440">
                    <a:solidFill>
                      <a:srgbClr val="7A003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L.Ratio (p)</a:t>
                      </a:r>
                    </a:p>
                  </a:txBody>
                  <a:tcPr anchor="ctr" marL="91440" marR="91440">
                    <a:solidFill>
                      <a:srgbClr val="7A00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be sąveikos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−16 554,14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vid_variklis·amzius</a:t>
                      </a:r>
                    </a:p>
                  </a:txBody>
                  <a:tcPr anchor="ctr" marL="91440" marR="91440">
                    <a:solidFill>
                      <a:srgbClr val="F3F1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β1 = γ10 + γ11·vid_variklis + u1</a:t>
                      </a:r>
                    </a:p>
                  </a:txBody>
                  <a:tcPr anchor="ctr" marL="91440" marR="91440">
                    <a:solidFill>
                      <a:srgbClr val="F3F1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−0,0144 (0,223)</a:t>
                      </a:r>
                    </a:p>
                  </a:txBody>
                  <a:tcPr anchor="ctr" marL="91440" marR="91440">
                    <a:solidFill>
                      <a:srgbClr val="F3F1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−16 553,56</a:t>
                      </a:r>
                    </a:p>
                  </a:txBody>
                  <a:tcPr anchor="ctr" marL="91440" marR="91440">
                    <a:solidFill>
                      <a:srgbClr val="F3F1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1,42 (0,234)</a:t>
                      </a:r>
                    </a:p>
                  </a:txBody>
                  <a:tcPr anchor="ctr" marL="91440" marR="91440">
                    <a:solidFill>
                      <a:srgbClr val="F3F1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vid_variklis·rida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β2 = γ20 + γ21·vid_variklis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0,00035 (0,175)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−16 553,97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3B3C3A"/>
                          </a:solidFill>
                          <a:latin typeface="Arial"/>
                        </a:rPr>
                        <a:t>1,83 (0,176)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343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7A003B"/>
                </a:solidFill>
                <a:latin typeface="Arial"/>
              </a:rPr>
              <a:t>Abiejų sąveikų koeficientai nereikšmingi, AIC nesumažėjo – sąveikų į galutinį modelį neįtraukiame.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Galutinio modelio 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700528"/>
            <a:ext cx="105156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−8,8 %, 1000 mylių ridos −0,46 %; mechaninė dėžė −10,5 %, Semi-Auto +1,2 % (palyginti su automatine), benzinas −7,5 % (palyginti su dyzeliu).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+1 mpg sumažina kainą ≈ 0,83 %; modelis su 1 l didesniu vidutiniu varikliu ≈ 44 % brangesnis.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0,025 – modeliai nuvertėja nevienodai (Caravelle ≈ 5,4 %, Beetle ≈ 13,2 % per metus).</a:t>
            </a:r>
          </a:p>
        </p:txBody>
      </p:sp>
      <p:pic>
        <p:nvPicPr>
          <p:cNvPr id="6" name="Picture 5" descr="e_joi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83080"/>
            <a:ext cx="10015728" cy="6888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82,4 % sumažėjo modeliu nepaaiškintų kainų skirtumų: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sumažėjo 25 758 vienetais (&gt; 10) – AIC(model.0ml, model.1ml):</a:t>
            </a:r>
          </a:p>
        </p:txBody>
      </p:sp>
      <p:pic>
        <p:nvPicPr>
          <p:cNvPr id="12" name="Picture 11" descr="e_sig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2194560"/>
            <a:ext cx="6121184" cy="1097278"/>
          </a:xfrm>
          <a:prstGeom prst="rect">
            <a:avLst/>
          </a:prstGeom>
        </p:spPr>
      </p:pic>
      <p:pic>
        <p:nvPicPr>
          <p:cNvPr id="13" name="Picture 12" descr="o_aic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" y="4206240"/>
            <a:ext cx="2688336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pic>
        <p:nvPicPr>
          <p:cNvPr id="4" name="Picture 3" descr="qqnorm(model.1, ~resid(., type = 'p')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" y="1783080"/>
            <a:ext cx="3017520" cy="2514600"/>
          </a:xfrm>
          <a:prstGeom prst="rect">
            <a:avLst/>
          </a:prstGeom>
        </p:spPr>
      </p:pic>
      <p:pic>
        <p:nvPicPr>
          <p:cNvPr id="5" name="Picture 4" descr="Liekanos vs prognozuojamos reikšmė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1648" y="1783080"/>
            <a:ext cx="3017520" cy="2514600"/>
          </a:xfrm>
          <a:prstGeom prst="rect">
            <a:avLst/>
          </a:prstGeom>
        </p:spPr>
      </p:pic>
      <p:pic>
        <p:nvPicPr>
          <p:cNvPr id="6" name="Picture 5" descr="qqnorm(model.1, ~ranef(.)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42048" y="1783080"/>
            <a:ext cx="402336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45720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B3C3A"/>
                </a:solidFill>
                <a:latin typeface="Arial"/>
              </a:rPr>
              <a:t>Liekanų q-q: </a:t>
            </a:r>
            <a:r>
              <a:rPr sz="1400" b="0">
                <a:solidFill>
                  <a:srgbClr val="3B3C3A"/>
                </a:solidFill>
                <a:latin typeface="Arial"/>
              </a:rPr>
              <a:t>centrinė dalis ant tiesės, uodegos (ypač kairė – itin pigūs skelbimai) nukrypsta; normalumas apytikslis.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3B3C3A"/>
                </a:solidFill>
                <a:latin typeface="Arial"/>
              </a:rPr>
              <a:t>Liekanos vs prognozės: </a:t>
            </a:r>
            <a:r>
              <a:rPr sz="1400" b="0">
                <a:solidFill>
                  <a:srgbClr val="3B3C3A"/>
                </a:solidFill>
                <a:latin typeface="Arial"/>
              </a:rPr>
              <a:t>sklaida apie 0 vienoda – homoskedastiškumas tenkinamas.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3B3C3A"/>
                </a:solidFill>
                <a:latin typeface="Arial"/>
              </a:rPr>
              <a:t>u0 ir u1: </a:t>
            </a:r>
            <a:r>
              <a:rPr sz="1400" b="0">
                <a:solidFill>
                  <a:srgbClr val="3B3C3A"/>
                </a:solidFill>
                <a:latin typeface="Arial"/>
              </a:rPr>
              <a:t>taškai išsidėstę apie tiesę – II lygmens efektai apytiksliai normalūs.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Išvados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783080"/>
            <a:ext cx="10515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1700" b="0">
                <a:solidFill>
                  <a:srgbClr val="3B3C3A"/>
                </a:solidFill>
                <a:latin typeface="Arial"/>
              </a:rPr>
              <a:t>ICC = 0,654 – apie 65 % naudotų VW kainų skirtumų lemia automobilio modelis, todėl HLM pagrįstas.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1700" b="0">
                <a:solidFill>
                  <a:srgbClr val="3B3C3A"/>
                </a:solidFill>
                <a:latin typeface="Arial"/>
              </a:rPr>
              <a:t>Kainą labiausiai mažina amžius (≈ −8,8 % per metus) ir rida (≈ −0,46 % per 1000 mylių); mechaninė dėžė ≈ 10,5 %, benzininis ≈ 7,5 % pigesnis.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1700" b="0">
                <a:solidFill>
                  <a:srgbClr val="3B3C3A"/>
                </a:solidFill>
                <a:latin typeface="Arial"/>
              </a:rPr>
              <a:t>Modelis su 1 l didesniu vidutiniu varikliu ≈ 44 % brangesnis; skirtingi modeliai nuvertėja nevienodu greičiu.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1700" b="0">
                <a:solidFill>
                  <a:srgbClr val="3B3C3A"/>
                </a:solidFill>
                <a:latin typeface="Arial"/>
              </a:rPr>
              <a:t>Galutinis modelis gerokai geresnis už besąlyginį: AIC sumažėjo 25 758, nepaaiškintų skirtumų – 82,4 % mažiau.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1700" b="0">
                <a:solidFill>
                  <a:srgbClr val="797979"/>
                </a:solidFill>
                <a:latin typeface="Arial"/>
              </a:rPr>
              <a:t>Kas nepavyko: sąveikos nepasitvirtino; liekanų uodegos nukrypsta nuo normalumo; kainos – skelbimų, ne sandorių, tirta tik VW.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Lidija Puščiūtė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Darja Baranova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Kodas ir duomenys: github.com/LidijaPu/K6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AČIŪ!</a:t>
            </a:r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16855</TotalTime>
  <Words>913</Words>
  <Application>Microsoft Macintosh PowerPoint</Application>
  <PresentationFormat>Widescreen</PresentationFormat>
  <Paragraphs>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NAUDOTŲ VOLKSWAGEN KAINŲ PROGNOZĖ TAIKANT HLM</vt:lpstr>
      <vt:lpstr>Duomenys</vt:lpstr>
      <vt:lpstr>Normalumo testas</vt:lpstr>
      <vt:lpstr>Besąlyginis modelis</vt:lpstr>
      <vt:lpstr>ICC</vt:lpstr>
      <vt:lpstr>I lygmens kintamųjų koreliacijos</vt:lpstr>
      <vt:lpstr>Dviejų lygmenų modelis</vt:lpstr>
      <vt:lpstr>Parametrų įverčiai</vt:lpstr>
      <vt:lpstr>Modelis su sąveika I</vt:lpstr>
      <vt:lpstr>Modelių palyginimas</vt:lpstr>
      <vt:lpstr>Modelis su sąveika 2</vt:lpstr>
      <vt:lpstr>Modelių palyginimas</vt:lpstr>
      <vt:lpstr>Galutinio modelio parametrų įverčiai</vt:lpstr>
      <vt:lpstr>Jungtinė lygtis su įverčiais</vt:lpstr>
      <vt:lpstr>Modelių palyginimas</vt:lpstr>
      <vt:lpstr>Prielaidų tikrinimas</vt:lpstr>
      <vt:lpstr>Prielaidų tikrinimas</vt:lpstr>
      <vt:lpstr>Kas negerai</vt:lpstr>
      <vt:lpstr>AČIŪ!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Darja Baranova</cp:lastModifiedBy>
  <cp:revision>98</cp:revision>
  <dcterms:created xsi:type="dcterms:W3CDTF">2017-06-28T06:49:28Z</dcterms:created>
  <dcterms:modified xsi:type="dcterms:W3CDTF">2026-10-29T14:06:05Z</dcterms:modified>
</cp:coreProperties>
</file>