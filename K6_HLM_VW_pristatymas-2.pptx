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710" r:id="rId2"/>
  </p:sldMasterIdLst>
  <p:sldIdLst>
    <p:sldId id="256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3" r:id="rId16"/>
    <p:sldId id="314" r:id="rId17"/>
    <p:sldId id="315" r:id="rId18"/>
    <p:sldId id="316" r:id="rId19"/>
    <p:sldId id="317" r:id="rId20"/>
    <p:sldId id="290" r:id="rId21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82" autoAdjust="0"/>
    <p:restoredTop sz="95652"/>
  </p:normalViewPr>
  <p:slideViewPr>
    <p:cSldViewPr snapToGrid="0">
      <p:cViewPr varScale="1">
        <p:scale>
          <a:sx n="114" d="100"/>
          <a:sy n="114" d="100"/>
        </p:scale>
        <p:origin x="46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9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0"/>
            <a:ext cx="2970720" cy="1112258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4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lvl="0"/>
            <a:endParaRPr lang="lt-LT" dirty="0"/>
          </a:p>
          <a:p>
            <a:pPr lvl="0"/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6722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title</a:t>
            </a:r>
            <a:r>
              <a:rPr lang="lt-LT" dirty="0"/>
              <a:t> </a:t>
            </a:r>
            <a:r>
              <a:rPr lang="lt-LT" dirty="0" err="1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19119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7486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3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" charset="0"/>
                <a:ea typeface="GT Walsheim" charset="0"/>
                <a:cs typeface="GT Walsheim" charset="0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5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35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411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4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1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2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6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80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21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74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2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47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228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455" y="599440"/>
            <a:ext cx="3103721" cy="116205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PAVADINIMAS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0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672482" cy="13750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466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672482" cy="137500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70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1"/>
            <a:ext cx="2967867" cy="111119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58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  <a:p>
            <a:pPr lvl="0"/>
            <a:endParaRPr lang="lt-LT" dirty="0"/>
          </a:p>
          <a:p>
            <a:pPr lvl="0"/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0881847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title</a:t>
            </a:r>
            <a:r>
              <a:rPr lang="lt-LT" dirty="0"/>
              <a:t> </a:t>
            </a:r>
            <a:r>
              <a:rPr lang="lt-LT" dirty="0" err="1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93349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08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9391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182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" charset="0"/>
                <a:ea typeface="GT Walsheim" charset="0"/>
                <a:cs typeface="GT Walsheim" charset="0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08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0508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6305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4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7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edit</a:t>
            </a:r>
            <a:r>
              <a:rPr lang="lt-LT" dirty="0"/>
              <a:t> </a:t>
            </a:r>
            <a:r>
              <a:rPr lang="lt-LT" dirty="0" err="1"/>
              <a:t>Master</a:t>
            </a:r>
            <a:r>
              <a:rPr lang="lt-LT" dirty="0"/>
              <a:t> </a:t>
            </a:r>
            <a:r>
              <a:rPr lang="lt-LT" dirty="0" err="1"/>
              <a:t>text</a:t>
            </a:r>
            <a:r>
              <a:rPr lang="lt-LT" dirty="0"/>
              <a:t> </a:t>
            </a:r>
            <a:r>
              <a:rPr lang="lt-LT" dirty="0" err="1"/>
              <a:t>styles</a:t>
            </a:r>
            <a:endParaRPr lang="lt-LT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79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6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260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513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536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52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582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8579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594653"/>
            <a:ext cx="3116505" cy="1166843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PAVADINIMAS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02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46.xml"/><Relationship Id="rId24" Type="http://schemas.openxmlformats.org/officeDocument/2006/relationships/theme" Target="../theme/theme2.xml"/><Relationship Id="rId25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" charset="0"/>
                <a:ea typeface="GT Walsheim" charset="0"/>
                <a:cs typeface="GT Walsheim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2181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6" r:id="rId2"/>
    <p:sldLayoutId id="2147483678" r:id="rId3"/>
    <p:sldLayoutId id="2147483683" r:id="rId4"/>
    <p:sldLayoutId id="2147483709" r:id="rId5"/>
    <p:sldLayoutId id="2147483654" r:id="rId6"/>
    <p:sldLayoutId id="2147483655" r:id="rId7"/>
    <p:sldLayoutId id="2147483680" r:id="rId8"/>
    <p:sldLayoutId id="2147483677" r:id="rId9"/>
    <p:sldLayoutId id="2147483656" r:id="rId10"/>
    <p:sldLayoutId id="2147483658" r:id="rId11"/>
    <p:sldLayoutId id="2147483684" r:id="rId12"/>
    <p:sldLayoutId id="2147483679" r:id="rId13"/>
    <p:sldLayoutId id="2147483685" r:id="rId14"/>
    <p:sldLayoutId id="2147483686" r:id="rId15"/>
    <p:sldLayoutId id="2147483730" r:id="rId16"/>
    <p:sldLayoutId id="2147483731" r:id="rId17"/>
    <p:sldLayoutId id="2147483734" r:id="rId18"/>
    <p:sldLayoutId id="2147483735" r:id="rId19"/>
    <p:sldLayoutId id="2147483659" r:id="rId20"/>
    <p:sldLayoutId id="2147483687" r:id="rId21"/>
    <p:sldLayoutId id="2147483688" r:id="rId22"/>
    <p:sldLayoutId id="214748368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5768" userDrawn="1">
          <p15:clr>
            <a:srgbClr val="F26B43"/>
          </p15:clr>
        </p15:guide>
        <p15:guide id="4" pos="1912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1434" userDrawn="1">
          <p15:clr>
            <a:srgbClr val="F26B43"/>
          </p15:clr>
        </p15:guide>
        <p15:guide id="8" orient="horz" pos="2886" userDrawn="1">
          <p15:clr>
            <a:srgbClr val="F26B43"/>
          </p15:clr>
        </p15:guide>
        <p15:guide id="9" orient="horz" pos="431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21818"/>
            <a:ext cx="1447800" cy="444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" charset="0"/>
                <a:ea typeface="GT Walsheim" charset="0"/>
                <a:cs typeface="GT Walsheim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1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32" r:id="rId16"/>
    <p:sldLayoutId id="2147483733" r:id="rId17"/>
    <p:sldLayoutId id="2147483736" r:id="rId18"/>
    <p:sldLayoutId id="2147483737" r:id="rId19"/>
    <p:sldLayoutId id="2147483726" r:id="rId20"/>
    <p:sldLayoutId id="2147483727" r:id="rId21"/>
    <p:sldLayoutId id="2147483728" r:id="rId22"/>
    <p:sldLayoutId id="214748372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">
          <p15:clr>
            <a:srgbClr val="F26B43"/>
          </p15:clr>
        </p15:guide>
        <p15:guide id="2">
          <p15:clr>
            <a:srgbClr val="F26B43"/>
          </p15:clr>
        </p15:guide>
        <p15:guide id="3" pos="5768">
          <p15:clr>
            <a:srgbClr val="F26B43"/>
          </p15:clr>
        </p15:guide>
        <p15:guide id="4" pos="1912">
          <p15:clr>
            <a:srgbClr val="F26B43"/>
          </p15:clr>
        </p15:guide>
        <p15:guide id="5" pos="3840">
          <p15:clr>
            <a:srgbClr val="F26B43"/>
          </p15:clr>
        </p15:guide>
        <p15:guide id="6" pos="7680">
          <p15:clr>
            <a:srgbClr val="F26B43"/>
          </p15:clr>
        </p15:guide>
        <p15:guide id="7" orient="horz" pos="1434">
          <p15:clr>
            <a:srgbClr val="F26B43"/>
          </p15:clr>
        </p15:guide>
        <p15:guide id="8" orient="horz" pos="2886">
          <p15:clr>
            <a:srgbClr val="F26B43"/>
          </p15:clr>
        </p15:guide>
        <p15:guide id="9" orient="horz" pos="431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png"/><Relationship Id="rId3" Type="http://schemas.openxmlformats.org/officeDocument/2006/relationships/image" Target="../media/image4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png"/><Relationship Id="rId3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0.png"/><Relationship Id="rId3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34.png"/><Relationship Id="rId7" Type="http://schemas.openxmlformats.org/officeDocument/2006/relationships/image" Target="../media/image5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6.png"/><Relationship Id="rId3" Type="http://schemas.openxmlformats.org/officeDocument/2006/relationships/image" Target="../media/image37.png"/><Relationship Id="rId4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51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1.png"/><Relationship Id="rId3" Type="http://schemas.openxmlformats.org/officeDocument/2006/relationships/image" Target="../media/image42.png"/><Relationship Id="rId4" Type="http://schemas.openxmlformats.org/officeDocument/2006/relationships/image" Target="../media/image5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NAUDOTŲ VOLKSWAGEN KAINŲ PROGNOZĖ TAIKANT HLM</a:t>
            </a:r>
            <a:endParaRPr lang="en-US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3127248" y="58064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Savarankiškas HLM · K6(10) · Taikomoji daugiamatė analizė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Lidija Puščiūtė, Darja Baranova · 2026</a:t>
            </a:r>
          </a:p>
        </p:txBody>
      </p:sp>
    </p:spTree>
    <p:extLst>
      <p:ext uri="{BB962C8B-B14F-4D97-AF65-F5344CB8AC3E}">
        <p14:creationId xmlns:p14="http://schemas.microsoft.com/office/powerpoint/2010/main" val="183764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Duomenys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dirty="0">
                <a:solidFill>
                  <a:srgbClr val="797979"/>
                </a:solidFill>
                <a:latin typeface="Arial"/>
              </a:rPr>
              <a:t>K6 HLM · VW </a:t>
            </a:r>
            <a:r>
              <a:rPr sz="1000" b="0" i="0" dirty="0" err="1">
                <a:solidFill>
                  <a:srgbClr val="797979"/>
                </a:solidFill>
                <a:latin typeface="Arial"/>
              </a:rPr>
              <a:t>kainos</a:t>
            </a:r>
            <a:r>
              <a:rPr sz="1000" b="0" i="0" dirty="0">
                <a:solidFill>
                  <a:srgbClr val="797979"/>
                </a:solidFill>
                <a:latin typeface="Arial"/>
              </a:rPr>
              <a:t>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 dirty="0">
                <a:solidFill>
                  <a:srgbClr val="3B3C3A"/>
                </a:solidFill>
                <a:latin typeface="Arial"/>
              </a:rPr>
              <a:t>Duomenų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rinkinys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 „100,000 UK Used Car Data set“ (Kaggle,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failas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vw.csv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) –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naudotų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 Volkswagen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automobilių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pardavimo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3B3C3A"/>
                </a:solidFill>
                <a:latin typeface="Arial"/>
              </a:rPr>
              <a:t>skelbimai</a:t>
            </a:r>
            <a:r>
              <a:rPr sz="1700" b="0" i="0" dirty="0">
                <a:solidFill>
                  <a:srgbClr val="3B3C3A"/>
                </a:solidFill>
                <a:latin typeface="Arial"/>
              </a:rPr>
              <a:t> Jungtinėje Karalystėje (2020 m.):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152" y="2426253"/>
            <a:ext cx="10515600" cy="303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I </a:t>
            </a:r>
            <a:r>
              <a:rPr lang="en-US" b="1" dirty="0" err="1"/>
              <a:t>lygmuo</a:t>
            </a:r>
            <a:r>
              <a:rPr lang="en-US" b="1" dirty="0"/>
              <a:t> – </a:t>
            </a:r>
            <a:r>
              <a:rPr lang="en-US" b="1" dirty="0" err="1"/>
              <a:t>parduodamas</a:t>
            </a:r>
            <a:r>
              <a:rPr lang="en-US" b="1" dirty="0"/>
              <a:t> </a:t>
            </a:r>
            <a:r>
              <a:rPr lang="en-US" b="1" dirty="0" err="1"/>
              <a:t>automobilis</a:t>
            </a:r>
            <a:r>
              <a:rPr lang="en-US" b="1" dirty="0"/>
              <a:t> (</a:t>
            </a:r>
            <a:r>
              <a:rPr lang="en-US" i="1" dirty="0"/>
              <a:t>Kaip </a:t>
            </a:r>
            <a:r>
              <a:rPr lang="en-US" i="1" dirty="0" err="1"/>
              <a:t>konkretaus</a:t>
            </a:r>
            <a:r>
              <a:rPr lang="en-US" i="1" dirty="0"/>
              <a:t> </a:t>
            </a:r>
            <a:r>
              <a:rPr lang="en-US" i="1" dirty="0" err="1"/>
              <a:t>automobilio</a:t>
            </a:r>
            <a:r>
              <a:rPr lang="en-US" i="1" dirty="0"/>
              <a:t> </a:t>
            </a:r>
            <a:r>
              <a:rPr lang="en-US" i="1" dirty="0" err="1"/>
              <a:t>rida</a:t>
            </a:r>
            <a:r>
              <a:rPr lang="en-US" i="1" dirty="0"/>
              <a:t> </a:t>
            </a:r>
            <a:r>
              <a:rPr lang="en-US" i="1" dirty="0" err="1"/>
              <a:t>ar</a:t>
            </a:r>
            <a:r>
              <a:rPr lang="en-US" i="1" dirty="0"/>
              <a:t> </a:t>
            </a:r>
            <a:r>
              <a:rPr lang="en-US" i="1" dirty="0" err="1"/>
              <a:t>amžius</a:t>
            </a:r>
            <a:r>
              <a:rPr lang="en-US" i="1" dirty="0"/>
              <a:t> </a:t>
            </a:r>
            <a:r>
              <a:rPr lang="en-US" i="1" dirty="0" err="1"/>
              <a:t>mažina</a:t>
            </a:r>
            <a:r>
              <a:rPr lang="en-US" i="1" dirty="0"/>
              <a:t> jo </a:t>
            </a:r>
            <a:r>
              <a:rPr lang="en-US" i="1" dirty="0" err="1"/>
              <a:t>kainą</a:t>
            </a:r>
            <a:r>
              <a:rPr lang="en-US" i="1" dirty="0"/>
              <a:t>?</a:t>
            </a:r>
            <a:r>
              <a:rPr lang="en-US" b="1" dirty="0"/>
              <a:t>):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kaina</a:t>
            </a:r>
            <a:r>
              <a:rPr lang="en-US" dirty="0"/>
              <a:t> – </a:t>
            </a:r>
            <a:r>
              <a:rPr lang="en-US" dirty="0" err="1"/>
              <a:t>priklausomas</a:t>
            </a:r>
            <a:r>
              <a:rPr lang="en-US" dirty="0"/>
              <a:t> </a:t>
            </a:r>
            <a:r>
              <a:rPr lang="en-US" dirty="0" err="1"/>
              <a:t>kintamasis</a:t>
            </a:r>
            <a:r>
              <a:rPr lang="en-US" dirty="0"/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amzius</a:t>
            </a:r>
            <a:r>
              <a:rPr lang="en-US" dirty="0"/>
              <a:t> – </a:t>
            </a:r>
            <a:r>
              <a:rPr lang="en-US" dirty="0" err="1"/>
              <a:t>kiek</a:t>
            </a:r>
            <a:r>
              <a:rPr lang="en-US" dirty="0"/>
              <a:t> </a:t>
            </a:r>
            <a:r>
              <a:rPr lang="en-US" dirty="0" err="1"/>
              <a:t>metų</a:t>
            </a:r>
            <a:r>
              <a:rPr lang="en-US" dirty="0"/>
              <a:t> </a:t>
            </a:r>
            <a:r>
              <a:rPr lang="en-US" dirty="0" err="1"/>
              <a:t>mašinai</a:t>
            </a:r>
            <a:r>
              <a:rPr lang="en-US" dirty="0"/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rida</a:t>
            </a:r>
            <a:r>
              <a:rPr lang="en-US" dirty="0"/>
              <a:t> – </a:t>
            </a:r>
            <a:r>
              <a:rPr lang="en-US" dirty="0" err="1"/>
              <a:t>kiek</a:t>
            </a:r>
            <a:r>
              <a:rPr lang="en-US" dirty="0"/>
              <a:t> </a:t>
            </a:r>
            <a:r>
              <a:rPr lang="en-US" dirty="0" err="1"/>
              <a:t>mylių</a:t>
            </a:r>
            <a:r>
              <a:rPr lang="en-US" dirty="0"/>
              <a:t> </a:t>
            </a:r>
            <a:r>
              <a:rPr lang="en-US" dirty="0" err="1"/>
              <a:t>mašina</a:t>
            </a:r>
            <a:r>
              <a:rPr lang="en-US" dirty="0"/>
              <a:t> </a:t>
            </a:r>
            <a:r>
              <a:rPr lang="en-US" dirty="0" err="1"/>
              <a:t>nuvažiavusi</a:t>
            </a:r>
            <a:r>
              <a:rPr lang="en-US" dirty="0"/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mpg – automobilio degalų sąnaudos;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transmission – pavarų dėžė (Automatic, Manual, Semi-Auto);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fuelType – kuro tipas (Diesel, Petrol).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II </a:t>
            </a:r>
            <a:r>
              <a:rPr lang="en-US" b="1" dirty="0" err="1"/>
              <a:t>lygmuo</a:t>
            </a:r>
            <a:r>
              <a:rPr lang="en-US" b="1" dirty="0"/>
              <a:t> – </a:t>
            </a:r>
            <a:r>
              <a:rPr lang="en-US" b="1" dirty="0" err="1"/>
              <a:t>automobilio</a:t>
            </a:r>
            <a:r>
              <a:rPr lang="en-US" b="1" dirty="0"/>
              <a:t> </a:t>
            </a:r>
            <a:r>
              <a:rPr lang="en-US" b="1" dirty="0" err="1"/>
              <a:t>modelis</a:t>
            </a:r>
            <a:r>
              <a:rPr lang="en-US" b="1" dirty="0"/>
              <a:t> (</a:t>
            </a:r>
            <a:r>
              <a:rPr lang="en-US" i="1" dirty="0" err="1"/>
              <a:t>Kodėl</a:t>
            </a:r>
            <a:r>
              <a:rPr lang="en-US" i="1" dirty="0"/>
              <a:t> </a:t>
            </a:r>
            <a:r>
              <a:rPr lang="en-US" i="1" dirty="0" err="1"/>
              <a:t>vieni</a:t>
            </a:r>
            <a:r>
              <a:rPr lang="en-US" i="1" dirty="0"/>
              <a:t> </a:t>
            </a:r>
            <a:r>
              <a:rPr lang="en-US" i="1" dirty="0" err="1"/>
              <a:t>modeliai</a:t>
            </a:r>
            <a:r>
              <a:rPr lang="en-US" i="1" dirty="0"/>
              <a:t> </a:t>
            </a:r>
            <a:r>
              <a:rPr lang="en-US" i="1" dirty="0" err="1"/>
              <a:t>apskritai</a:t>
            </a:r>
            <a:r>
              <a:rPr lang="en-US" i="1" dirty="0"/>
              <a:t> </a:t>
            </a:r>
            <a:r>
              <a:rPr lang="en-US" i="1" dirty="0" err="1"/>
              <a:t>kainuoja</a:t>
            </a:r>
            <a:r>
              <a:rPr lang="en-US" i="1" dirty="0"/>
              <a:t> </a:t>
            </a:r>
            <a:r>
              <a:rPr lang="en-US" i="1" dirty="0" err="1"/>
              <a:t>brangiau</a:t>
            </a:r>
            <a:r>
              <a:rPr lang="en-US" i="1" dirty="0"/>
              <a:t> </a:t>
            </a:r>
            <a:r>
              <a:rPr lang="en-US" i="1" dirty="0" err="1"/>
              <a:t>nei</a:t>
            </a:r>
            <a:r>
              <a:rPr lang="en-US" i="1" dirty="0"/>
              <a:t> </a:t>
            </a:r>
            <a:r>
              <a:rPr lang="en-US" i="1" dirty="0" err="1"/>
              <a:t>kiti</a:t>
            </a:r>
            <a:r>
              <a:rPr lang="en-US" i="1" dirty="0"/>
              <a:t>, </a:t>
            </a:r>
            <a:r>
              <a:rPr lang="en-US" i="1" dirty="0" err="1"/>
              <a:t>ir</a:t>
            </a:r>
            <a:r>
              <a:rPr lang="en-US" i="1" dirty="0"/>
              <a:t> </a:t>
            </a:r>
            <a:r>
              <a:rPr lang="en-US" i="1" dirty="0" err="1"/>
              <a:t>kodėl</a:t>
            </a:r>
            <a:r>
              <a:rPr lang="en-US" i="1" dirty="0"/>
              <a:t> kai </a:t>
            </a:r>
            <a:r>
              <a:rPr lang="en-US" i="1" dirty="0" err="1"/>
              <a:t>kurie</a:t>
            </a:r>
            <a:r>
              <a:rPr lang="en-US" i="1" dirty="0"/>
              <a:t> </a:t>
            </a:r>
            <a:r>
              <a:rPr lang="en-US" i="1" dirty="0" err="1"/>
              <a:t>modeliai</a:t>
            </a:r>
            <a:r>
              <a:rPr lang="en-US" i="1" dirty="0"/>
              <a:t> </a:t>
            </a:r>
            <a:r>
              <a:rPr lang="en-US" i="1" dirty="0" err="1"/>
              <a:t>nuvertėja</a:t>
            </a:r>
            <a:r>
              <a:rPr lang="en-US" i="1" dirty="0"/>
              <a:t> </a:t>
            </a:r>
            <a:r>
              <a:rPr lang="en-US" i="1" dirty="0" err="1"/>
              <a:t>greičiau</a:t>
            </a:r>
            <a:r>
              <a:rPr lang="en-US" b="1" dirty="0"/>
              <a:t>):</a:t>
            </a:r>
          </a:p>
          <a:p>
            <a:r>
              <a:rPr lang="en-US" dirty="0" err="1"/>
              <a:t>vid_variklis</a:t>
            </a:r>
            <a:r>
              <a:rPr lang="en-US" dirty="0"/>
              <a:t> – </a:t>
            </a:r>
            <a:r>
              <a:rPr lang="en-US" dirty="0" err="1"/>
              <a:t>modelio</a:t>
            </a:r>
            <a:r>
              <a:rPr lang="en-US" dirty="0"/>
              <a:t> </a:t>
            </a:r>
            <a:r>
              <a:rPr lang="en-US" dirty="0" err="1"/>
              <a:t>vidutinis</a:t>
            </a:r>
            <a:r>
              <a:rPr lang="en-US" dirty="0"/>
              <a:t> </a:t>
            </a:r>
            <a:r>
              <a:rPr lang="en-US" dirty="0" err="1"/>
              <a:t>variklio</a:t>
            </a:r>
            <a:r>
              <a:rPr lang="en-US" dirty="0"/>
              <a:t> </a:t>
            </a:r>
            <a:r>
              <a:rPr lang="en-US" dirty="0" err="1"/>
              <a:t>tūris</a:t>
            </a:r>
            <a:r>
              <a:rPr lang="en-US" dirty="0"/>
              <a:t> (</a:t>
            </a:r>
            <a:r>
              <a:rPr lang="en-US" dirty="0" err="1"/>
              <a:t>pvz</a:t>
            </a:r>
            <a:r>
              <a:rPr lang="en-US" dirty="0"/>
              <a:t>. </a:t>
            </a:r>
            <a:r>
              <a:rPr lang="en-US" dirty="0" err="1"/>
              <a:t>visiems</a:t>
            </a:r>
            <a:r>
              <a:rPr lang="en-US" dirty="0"/>
              <a:t> </a:t>
            </a:r>
            <a:r>
              <a:rPr lang="en-US" i="1" dirty="0"/>
              <a:t>Golf</a:t>
            </a:r>
            <a:r>
              <a:rPr lang="en-US" dirty="0"/>
              <a:t> </a:t>
            </a:r>
            <a:r>
              <a:rPr lang="en-US" dirty="0" err="1"/>
              <a:t>automobiliams</a:t>
            </a:r>
            <a:r>
              <a:rPr lang="en-US" dirty="0"/>
              <a:t> </a:t>
            </a:r>
            <a:r>
              <a:rPr lang="en-US" dirty="0" err="1"/>
              <a:t>ši</a:t>
            </a:r>
            <a:r>
              <a:rPr lang="en-US" dirty="0"/>
              <a:t> </a:t>
            </a:r>
            <a:r>
              <a:rPr lang="en-US" dirty="0" err="1"/>
              <a:t>reikšmė</a:t>
            </a:r>
            <a:r>
              <a:rPr lang="en-US" dirty="0"/>
              <a:t> bus </a:t>
            </a:r>
            <a:r>
              <a:rPr lang="en-US" dirty="0" err="1"/>
              <a:t>vienoda</a:t>
            </a:r>
            <a:r>
              <a:rPr lang="en-US" dirty="0"/>
              <a:t>).</a:t>
            </a:r>
          </a:p>
          <a:p>
            <a:pPr marL="285750" indent="-285750" algn="l">
              <a:spcAft>
                <a:spcPts val="800"/>
              </a:spcAft>
              <a:buChar char="•"/>
            </a:pPr>
            <a:endParaRPr sz="1700" b="0" i="0" dirty="0">
              <a:solidFill>
                <a:srgbClr val="3B3C3A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5152" y="5806440"/>
            <a:ext cx="10515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chemeClr val="accent3">
                    <a:lumMod val="50000"/>
                  </a:schemeClr>
                </a:solidFill>
                <a:latin typeface="Arial"/>
              </a:rPr>
              <a:t>Po valymo: n = 14 864 automobiliai, 21 modelis. transmission ir fuelType – kategoriniai (nominalūs), kiti – intervaliniai.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Normalumo testas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3</a:t>
            </a:r>
          </a:p>
        </p:txBody>
      </p:sp>
      <p:pic>
        <p:nvPicPr>
          <p:cNvPr id="4" name="Picture 3" descr="Priklausomo kintamojo histogr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37360"/>
            <a:ext cx="6309360" cy="4141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830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Priklausomo kintamojo histograma</a:t>
            </a:r>
          </a:p>
        </p:txBody>
      </p:sp>
      <p:pic>
        <p:nvPicPr>
          <p:cNvPr id="6" name="Picture 5" descr="o_shap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840480" cy="11595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3611880"/>
            <a:ext cx="38404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Shapiro testas normalumą atmeta (p &lt; 0,05), tačiau W = 0,986 artimas 1, o histograma beveik simetriška – nukrypimas tik kairėje uodegoje.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Besąlyginis modelis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4</a:t>
            </a:r>
          </a:p>
        </p:txBody>
      </p:sp>
      <p:pic>
        <p:nvPicPr>
          <p:cNvPr id="4" name="Picture 3" descr="e_m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4937760" cy="1201320"/>
          </a:xfrm>
          <a:prstGeom prst="rect">
            <a:avLst/>
          </a:prstGeom>
        </p:spPr>
      </p:pic>
      <p:pic>
        <p:nvPicPr>
          <p:cNvPr id="5" name="Picture 4" descr="o_m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166360" cy="2908986"/>
          </a:xfrm>
          <a:prstGeom prst="rect">
            <a:avLst/>
          </a:prstGeom>
        </p:spPr>
      </p:pic>
      <p:pic>
        <p:nvPicPr>
          <p:cNvPr id="6" name="Picture 5" descr="e_m0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94960"/>
            <a:ext cx="7790688" cy="414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5</a:t>
            </a:r>
          </a:p>
        </p:txBody>
      </p:sp>
      <p:pic>
        <p:nvPicPr>
          <p:cNvPr id="4" name="Picture 3" descr="e_m0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6400800" cy="340574"/>
          </a:xfrm>
          <a:prstGeom prst="rect">
            <a:avLst/>
          </a:prstGeom>
        </p:spPr>
      </p:pic>
      <p:pic>
        <p:nvPicPr>
          <p:cNvPr id="5" name="Picture 4" descr="e_h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77440"/>
            <a:ext cx="1399032" cy="499871"/>
          </a:xfrm>
          <a:prstGeom prst="rect">
            <a:avLst/>
          </a:prstGeom>
        </p:spPr>
      </p:pic>
      <p:pic>
        <p:nvPicPr>
          <p:cNvPr id="6" name="Picture 5" descr="e_h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377440"/>
            <a:ext cx="1383792" cy="481583"/>
          </a:xfrm>
          <a:prstGeom prst="rect">
            <a:avLst/>
          </a:prstGeom>
        </p:spPr>
      </p:pic>
      <p:pic>
        <p:nvPicPr>
          <p:cNvPr id="7" name="Picture 6" descr="e_h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2377440"/>
            <a:ext cx="1359408" cy="554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320040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B3C3A"/>
                </a:solidFill>
                <a:latin typeface="Arial"/>
              </a:rPr>
              <a:t>Visos trys nulinės hipotezės yra atmetamos, daroma išvada, kad γ00 ≠ 0, τ00 &gt; 0, σ² &gt; 0.</a:t>
            </a:r>
          </a:p>
        </p:txBody>
      </p:sp>
      <p:pic>
        <p:nvPicPr>
          <p:cNvPr id="9" name="Picture 8" descr="e_ic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977639"/>
            <a:ext cx="6400800" cy="92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12064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7A003B"/>
                </a:solidFill>
                <a:latin typeface="Arial"/>
              </a:rPr>
              <a:t>Apie 65,4 % naudotų VW kainų priklauso nuo automobilio modelio.</a:t>
            </a:r>
          </a:p>
        </p:txBody>
      </p:sp>
      <p:pic>
        <p:nvPicPr>
          <p:cNvPr id="11" name="Picture 10" descr="o_m0i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691640"/>
            <a:ext cx="3703320" cy="16242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3407343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97979"/>
                </a:solidFill>
                <a:latin typeface="Arial"/>
              </a:rPr>
              <a:t>intervals(model.0): standartinių nuokrypių PI neapima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 lygmens kintamųjų koreliacijos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6</a:t>
            </a:r>
          </a:p>
        </p:txBody>
      </p:sp>
      <p:pic>
        <p:nvPicPr>
          <p:cNvPr id="4" name="Picture 3" descr="o_c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5029200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0233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3B3C3A"/>
                </a:solidFill>
                <a:latin typeface="Arial"/>
              </a:rPr>
              <a:t>Stipriausiai koreliuoja amžius ir rida (r = 0,763): senesni automobiliai daugiau nuvažiavę.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3B3C3A"/>
                </a:solidFill>
                <a:latin typeface="Arial"/>
              </a:rPr>
              <a:t>Koreliacija mažesnė už 0,8, todėl stipraus multikolinearumo nėra – abu kintamieji paliekami. mpg su kitais koreliuoja vidutiniškai (≈ 0,40).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Dviejų lygmenų modelis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1 lygio (automobilio)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amzius, rida, mpg, transmission, fuelType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2 lygio (modelio)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54067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Fiksuoto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vid_variklis, amzius, rida, mpg, Manual, SemiAuto, Petrol (pseudokintamieji; bazinės kategorijos – Automatic, Diesel)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Atsitiktinio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</a:t>
            </a:r>
          </a:p>
        </p:txBody>
      </p:sp>
      <p:pic>
        <p:nvPicPr>
          <p:cNvPr id="7" name="Picture 6" descr="e_m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10607040" cy="22480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Parametrų įverčiai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8</a:t>
            </a:r>
          </a:p>
        </p:txBody>
      </p:sp>
      <p:pic>
        <p:nvPicPr>
          <p:cNvPr id="6" name="Picture 5" descr="o_m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691640"/>
            <a:ext cx="6535972" cy="4572000"/>
          </a:xfrm>
          <a:prstGeom prst="rect">
            <a:avLst/>
          </a:prstGeom>
        </p:spPr>
      </p:pic>
      <p:pic>
        <p:nvPicPr>
          <p:cNvPr id="7" name="Picture 6" descr="e_m1e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7260" y="1783080"/>
            <a:ext cx="2670048" cy="3800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Modelis su sąveika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1 lygio (automobilio)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amzius, rida, mpg, transmission, fuelType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2 lygio (modelio)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54067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Fiksuoto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vid_variklis, amzius, rida, mpg, vid_variklis·amzius, Manual, SemiAuto, Petrol (pseudokintamieji; bazinės kategorijos – Automatic, Diesel)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Atsitiktinio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</a:t>
            </a:r>
          </a:p>
        </p:txBody>
      </p:sp>
      <p:pic>
        <p:nvPicPr>
          <p:cNvPr id="7" name="Picture 6" descr="e_m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10607040" cy="22480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Modelių palyginimas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0292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3B3C3A"/>
                </a:solidFill>
                <a:latin typeface="Arial"/>
              </a:rPr>
              <a:t>Modelio be sąveikos Akaikės indeksas: −16 554,14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3B3C3A"/>
                </a:solidFill>
                <a:latin typeface="Arial"/>
              </a:rPr>
              <a:t>Modelio su sąveika I Akaikės indeksas: −16 553,56  (L.Ratio = 1,42; p = 0,234)</a:t>
            </a:r>
          </a:p>
        </p:txBody>
      </p:sp>
      <p:pic>
        <p:nvPicPr>
          <p:cNvPr id="6" name="Picture 5" descr="o_m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91640"/>
            <a:ext cx="438454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Modelis su sąveika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1 lygio (automobilio)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amzius, rida, mpg, transmission, fuelType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2 lygio (modelio)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54067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Fiksuoto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vid_variklis, amzius, rida, mpg, vid_variklis·rida, Manual, SemiAuto, Petrol (pseudokintamieji; bazinės kategorijos – Automatic, Diesel)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Atsitiktinio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</a:t>
            </a:r>
          </a:p>
        </p:txBody>
      </p:sp>
      <p:pic>
        <p:nvPicPr>
          <p:cNvPr id="7" name="Picture 6" descr="e_m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331720"/>
            <a:ext cx="10607040" cy="22480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Modelių palyginimas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783080"/>
            <a:ext cx="32461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B3C3A"/>
                </a:solidFill>
                <a:latin typeface="Arial"/>
              </a:rPr>
              <a:t>Modelio be sąveikos Akaikės indeksas: −16 554,14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B3C3A"/>
                </a:solidFill>
                <a:latin typeface="Arial"/>
              </a:rPr>
              <a:t>Modelio su sąveika 2 Akaikės indeksas: −16 553,97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7A003B"/>
                </a:solidFill>
                <a:latin typeface="Arial"/>
              </a:rPr>
              <a:t>Sąveikos koeficientas nereikšmingas (p = 0,175); AIC nesumažėjo, L.Ratio = 1,83, p = 0,176.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3387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B3C3A"/>
                </a:solidFill>
                <a:latin typeface="Arial"/>
              </a:rPr>
              <a:t>Abi sąveikos nereikalingos – galutiniu modeliu renkamės dviejų lygmenų modelį be sąveikų.</a:t>
            </a:r>
          </a:p>
        </p:txBody>
      </p:sp>
      <p:pic>
        <p:nvPicPr>
          <p:cNvPr id="10" name="Picture 9" descr="o_m3m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1691640"/>
            <a:ext cx="4384547" cy="3200400"/>
          </a:xfrm>
          <a:prstGeom prst="rect">
            <a:avLst/>
          </a:prstGeom>
        </p:spPr>
      </p:pic>
      <p:pic>
        <p:nvPicPr>
          <p:cNvPr id="11" name="Picture 10" descr="o_a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983480"/>
            <a:ext cx="6855256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Galutinio modelio jungtinė lygtis su įverčiais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00528"/>
            <a:ext cx="105156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Visi fiksuoto poveikio parametrai statistiškai reikšmingi (p &lt; 0,05).</a:t>
            </a:r>
          </a:p>
          <a:p>
            <a:pPr marL="285750" indent="-285750" algn="l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Y = log(kaina), todėl poveikis procentais = (e^koef − 1)·100: kiekvieni metai −8,8 %, 1000 mylių ridos −0,46 %; mechaninė dėžė −10,5 %, Semi-Auto +1,2 % (palyginti su automatine), benzinas −7,5 % (palyginti su dyzeliu).</a:t>
            </a:r>
          </a:p>
          <a:p>
            <a:pPr marL="285750" indent="-285750" algn="l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+1 mpg sumažina kainą ≈ 0,83 %; modelis su 1 l didesniu vidutiniu varikliu ≈ 44 % brangesnis.</a:t>
            </a:r>
          </a:p>
          <a:p>
            <a:pPr marL="285750" indent="-285750" algn="l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Amžiaus nuolydžio st. nuokrypis 0,025 – modeliai nuvertėja nevienodai (Caravelle ≈ 5,4 %, Beetle ≈ 13,2 % per metus).</a:t>
            </a:r>
          </a:p>
        </p:txBody>
      </p:sp>
      <p:pic>
        <p:nvPicPr>
          <p:cNvPr id="6" name="Picture 5" descr="e_jo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10015728" cy="6888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Modelių palyginimas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Lyginant su besąlyginiu modeliu 82,4 % sumažėjo modeliu nepaaiškintų kainų skirtumų: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Akaikės indeksas statistiškai reikšmingai sumažėjo (25 758 vienetais, &gt; 10):</a:t>
            </a:r>
          </a:p>
        </p:txBody>
      </p:sp>
      <p:pic>
        <p:nvPicPr>
          <p:cNvPr id="12" name="Picture 11" descr="e_sigm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2194560"/>
            <a:ext cx="6121184" cy="1097278"/>
          </a:xfrm>
          <a:prstGeom prst="rect">
            <a:avLst/>
          </a:prstGeom>
        </p:spPr>
      </p:pic>
      <p:pic>
        <p:nvPicPr>
          <p:cNvPr id="13" name="Picture 12" descr="o_a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" y="4206240"/>
            <a:ext cx="817473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Prielaidų tikrinimas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321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qqnorm(model.1, ~resid(.)) – visai panašu į normalumą, nukrypimai tik kairėje uodegoje. Liekanų sklaida apie 0 vienoda – homoskedastiškumas tenkinamas.</a:t>
            </a:r>
          </a:p>
        </p:txBody>
      </p:sp>
      <p:pic>
        <p:nvPicPr>
          <p:cNvPr id="9" name="Picture 8" descr="Liekanų q-q grafik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1737360"/>
            <a:ext cx="5074920" cy="3721608"/>
          </a:xfrm>
          <a:prstGeom prst="rect">
            <a:avLst/>
          </a:prstGeom>
        </p:spPr>
      </p:pic>
      <p:pic>
        <p:nvPicPr>
          <p:cNvPr id="10" name="Picture 9" descr="Liekanos prieš prognozuojamas reikšm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1737360"/>
            <a:ext cx="507492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Prielaidų tikrinimas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92024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qqnorm(model.1, ~ranef(.))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Atsitiktinių efektų u0 ir u1 taškai išsidėstę apie tiesę – normalumas apytiksliai tenkinamas.</a:t>
            </a:r>
          </a:p>
        </p:txBody>
      </p:sp>
      <p:pic>
        <p:nvPicPr>
          <p:cNvPr id="6" name="Picture 5" descr="Atsitiktinių efektų q-q grafika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1783080"/>
            <a:ext cx="7315200" cy="357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Kas negerai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Abudu modeliai su sąveikomis turėjo nereikšmingus sąveikų koeficientus (p = 0,223 ir p = 0,175) – sąveikos modelyje nereikalingos.</a:t>
            </a:r>
          </a:p>
          <a:p>
            <a:pPr marL="285750" indent="-285750" algn="l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Didelėje imtyje (n = 14 864) statistiškai reikšmingi tampa ir maži efektai, todėl vertiname ir AIC pokytį bei koeficientų dydį.</a:t>
            </a:r>
          </a:p>
          <a:p>
            <a:pPr marL="285750" indent="-285750" algn="l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Shapiro testas normalumą atmeta; liekanų kairėje uodegoje – keli itin pigūs skelbimai.</a:t>
            </a:r>
          </a:p>
          <a:p>
            <a:pPr marL="285750" indent="-285750" algn="l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Kainos – skelbimų, ne sandorių; tirta tik viena markė (VW).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 err="1"/>
              <a:t>Lidija Puščiūtė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 err="1"/>
              <a:t>Darja Baranova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/>
              <a:t>Kodas ir duomenys: github.com/LidijaPu/K6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AČIŪ!</a:t>
            </a:r>
          </a:p>
        </p:txBody>
      </p:sp>
    </p:spTree>
    <p:extLst>
      <p:ext uri="{BB962C8B-B14F-4D97-AF65-F5344CB8AC3E}">
        <p14:creationId xmlns:p14="http://schemas.microsoft.com/office/powerpoint/2010/main" val="8789093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16855</TotalTime>
  <Words>913</Words>
  <Application>Microsoft Macintosh PowerPoint</Application>
  <PresentationFormat>Widescreen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GT Walsheim</vt:lpstr>
      <vt:lpstr>Custom Design</vt:lpstr>
      <vt:lpstr>1_Custom Design</vt:lpstr>
      <vt:lpstr>NAUDOTŲ VOLKSWAGEN KAINŲ PROGNOZĖ TAIKANT HLM</vt:lpstr>
      <vt:lpstr>Duomenys</vt:lpstr>
      <vt:lpstr>Normalumo testas</vt:lpstr>
      <vt:lpstr>Besąlyginis modelis</vt:lpstr>
      <vt:lpstr>ICC</vt:lpstr>
      <vt:lpstr>I lygmens kintamųjų koreliacijos</vt:lpstr>
      <vt:lpstr>Dviejų lygmenų modelis</vt:lpstr>
      <vt:lpstr>Parametrų įverčiai</vt:lpstr>
      <vt:lpstr>Modelis su sąveika I</vt:lpstr>
      <vt:lpstr>Modelių palyginimas</vt:lpstr>
      <vt:lpstr>Modelis su sąveika 2</vt:lpstr>
      <vt:lpstr>Modelių palyginimas</vt:lpstr>
      <vt:lpstr>Galutinio modelio parametrų įverčiai</vt:lpstr>
      <vt:lpstr>Jungtinė lygtis su įverčiais</vt:lpstr>
      <vt:lpstr>Modelių palyginimas</vt:lpstr>
      <vt:lpstr>Prielaidų tikrinimas</vt:lpstr>
      <vt:lpstr>Prielaidų tikrinimas</vt:lpstr>
      <vt:lpstr>Kas negerai</vt:lpstr>
      <vt:lpstr>AČIŪ!</vt:lpstr>
    </vt:vector>
  </TitlesOfParts>
  <Company>Vilniaus universitetas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Rokas Aleliūnas</dc:creator>
  <cp:lastModifiedBy>Darja Baranova</cp:lastModifiedBy>
  <cp:revision>98</cp:revision>
  <dcterms:created xsi:type="dcterms:W3CDTF">2017-06-28T06:49:28Z</dcterms:created>
  <dcterms:modified xsi:type="dcterms:W3CDTF">2026-10-29T14:06:05Z</dcterms:modified>
</cp:coreProperties>
</file>