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2" r:id="rId1"/>
    <p:sldMasterId id="2147483710" r:id="rId2"/>
  </p:sldMasterIdLst>
  <p:sldIdLst>
    <p:sldId id="256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  <p:sldId id="317" r:id="rId20"/>
    <p:sldId id="290" r:id="rId21"/>
  </p:sldIdLst>
  <p:sldSz cx="12192000" cy="6858000"/>
  <p:notesSz cx="6858000" cy="9144000"/>
  <p:defaultTextStyle>
    <a:defPPr>
      <a:defRPr lang="lt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0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82" autoAdjust="0"/>
    <p:restoredTop sz="95652"/>
  </p:normalViewPr>
  <p:slideViewPr>
    <p:cSldViewPr snapToGrid="0">
      <p:cViewPr varScale="1">
        <p:scale>
          <a:sx n="114" d="100"/>
          <a:sy n="114" d="100"/>
        </p:scale>
        <p:origin x="46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93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34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0"/>
            <a:ext cx="2970720" cy="1112258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46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67221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91197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515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7486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31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52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8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2359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4113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98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144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41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205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26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800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8218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744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472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72287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6455" y="599440"/>
            <a:ext cx="3103721" cy="1162056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08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9466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470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1"/>
            <a:ext cx="2967867" cy="1111192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58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20881847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9334997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5089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939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7182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0897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086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50508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630533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3597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142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7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79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060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2600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5134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536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0521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5825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85794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594653"/>
            <a:ext cx="3116505" cy="1166843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402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6.xml"/><Relationship Id="rId1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44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40.xml"/><Relationship Id="rId25" Type="http://schemas.openxmlformats.org/officeDocument/2006/relationships/image" Target="../media/image3.emf"/><Relationship Id="rId2" Type="http://schemas.openxmlformats.org/officeDocument/2006/relationships/slideLayout" Target="../slideLayouts/slideLayout25.xml"/><Relationship Id="rId16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38.xml"/><Relationship Id="rId23" Type="http://schemas.openxmlformats.org/officeDocument/2006/relationships/slideLayout" Target="../slideLayouts/slideLayout46.xml"/><Relationship Id="rId10" Type="http://schemas.openxmlformats.org/officeDocument/2006/relationships/slideLayout" Target="../slideLayouts/slideLayout33.xml"/><Relationship Id="rId19" Type="http://schemas.openxmlformats.org/officeDocument/2006/relationships/slideLayout" Target="../slideLayouts/slideLayout42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7.xml"/><Relationship Id="rId22" Type="http://schemas.openxmlformats.org/officeDocument/2006/relationships/slideLayout" Target="../slideLayouts/slideLayout4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7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76" r:id="rId2"/>
    <p:sldLayoutId id="2147483678" r:id="rId3"/>
    <p:sldLayoutId id="2147483683" r:id="rId4"/>
    <p:sldLayoutId id="2147483709" r:id="rId5"/>
    <p:sldLayoutId id="2147483654" r:id="rId6"/>
    <p:sldLayoutId id="2147483655" r:id="rId7"/>
    <p:sldLayoutId id="2147483680" r:id="rId8"/>
    <p:sldLayoutId id="2147483677" r:id="rId9"/>
    <p:sldLayoutId id="2147483656" r:id="rId10"/>
    <p:sldLayoutId id="2147483658" r:id="rId11"/>
    <p:sldLayoutId id="2147483684" r:id="rId12"/>
    <p:sldLayoutId id="2147483679" r:id="rId13"/>
    <p:sldLayoutId id="2147483685" r:id="rId14"/>
    <p:sldLayoutId id="2147483686" r:id="rId15"/>
    <p:sldLayoutId id="2147483730" r:id="rId16"/>
    <p:sldLayoutId id="2147483731" r:id="rId17"/>
    <p:sldLayoutId id="2147483734" r:id="rId18"/>
    <p:sldLayoutId id="2147483735" r:id="rId19"/>
    <p:sldLayoutId id="2147483659" r:id="rId20"/>
    <p:sldLayoutId id="2147483687" r:id="rId21"/>
    <p:sldLayoutId id="2147483688" r:id="rId22"/>
    <p:sldLayoutId id="2147483682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5768" userDrawn="1">
          <p15:clr>
            <a:srgbClr val="F26B43"/>
          </p15:clr>
        </p15:guide>
        <p15:guide id="4" pos="1912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680" userDrawn="1">
          <p15:clr>
            <a:srgbClr val="F26B43"/>
          </p15:clr>
        </p15:guide>
        <p15:guide id="7" orient="horz" pos="1434" userDrawn="1">
          <p15:clr>
            <a:srgbClr val="F26B43"/>
          </p15:clr>
        </p15:guide>
        <p15:guide id="8" orient="horz" pos="2886" userDrawn="1">
          <p15:clr>
            <a:srgbClr val="F26B43"/>
          </p15:clr>
        </p15:guide>
        <p15:guide id="9" orient="horz" pos="431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819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32" r:id="rId16"/>
    <p:sldLayoutId id="2147483733" r:id="rId17"/>
    <p:sldLayoutId id="2147483736" r:id="rId18"/>
    <p:sldLayoutId id="2147483737" r:id="rId19"/>
    <p:sldLayoutId id="2147483726" r:id="rId20"/>
    <p:sldLayoutId id="2147483727" r:id="rId21"/>
    <p:sldLayoutId id="2147483728" r:id="rId22"/>
    <p:sldLayoutId id="2147483729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>
          <p15:clr>
            <a:srgbClr val="F26B43"/>
          </p15:clr>
        </p15:guide>
        <p15:guide id="2">
          <p15:clr>
            <a:srgbClr val="F26B43"/>
          </p15:clr>
        </p15:guide>
        <p15:guide id="3" pos="5768">
          <p15:clr>
            <a:srgbClr val="F26B43"/>
          </p15:clr>
        </p15:guide>
        <p15:guide id="4" pos="1912">
          <p15:clr>
            <a:srgbClr val="F26B43"/>
          </p15:clr>
        </p15:guide>
        <p15:guide id="5" pos="3840">
          <p15:clr>
            <a:srgbClr val="F26B43"/>
          </p15:clr>
        </p15:guide>
        <p15:guide id="6" pos="7680">
          <p15:clr>
            <a:srgbClr val="F26B43"/>
          </p15:clr>
        </p15:guide>
        <p15:guide id="7" orient="horz" pos="1434">
          <p15:clr>
            <a:srgbClr val="F26B43"/>
          </p15:clr>
        </p15:guide>
        <p15:guide id="8" orient="horz" pos="2886">
          <p15:clr>
            <a:srgbClr val="F26B43"/>
          </p15:clr>
        </p15:guide>
        <p15:guide id="9" orient="horz" pos="431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NAUDOTŲ VOLKSWAGEN KAINŲ PROGNOZĖ TAIKANT HLM</a:t>
            </a:r>
            <a:endParaRPr lang="en-US" sz="5400" dirty="0"/>
          </a:p>
        </p:txBody>
      </p:sp>
      <p:sp>
        <p:nvSpPr>
          <p:cNvPr id="3" name="TextBox 2"/>
          <p:cNvSpPr txBox="1"/>
          <p:nvPr/>
        </p:nvSpPr>
        <p:spPr>
          <a:xfrm>
            <a:off x="3127248" y="580644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Savarankiškas HLM · K6(10) · Taikomoji daugiamatė analizė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Lidija Puščiūtė, Darja Baranova · 2026</a:t>
            </a:r>
          </a:p>
        </p:txBody>
      </p:sp>
    </p:spTree>
    <p:extLst>
      <p:ext uri="{BB962C8B-B14F-4D97-AF65-F5344CB8AC3E}">
        <p14:creationId xmlns:p14="http://schemas.microsoft.com/office/powerpoint/2010/main" val="183764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Duomenys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797979"/>
                </a:solidFill>
                <a:latin typeface="Arial"/>
              </a:rPr>
              <a:t>K6 HLM · VW </a:t>
            </a:r>
            <a:r>
              <a:rPr sz="1000" b="0" i="0" dirty="0" err="1">
                <a:solidFill>
                  <a:srgbClr val="797979"/>
                </a:solidFill>
                <a:latin typeface="Arial"/>
              </a:rPr>
              <a:t>kainos</a:t>
            </a:r>
            <a:r>
              <a:rPr sz="1000" b="0" i="0" dirty="0">
                <a:solidFill>
                  <a:srgbClr val="797979"/>
                </a:solidFill>
                <a:latin typeface="Arial"/>
              </a:rPr>
              <a:t>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 dirty="0">
                <a:solidFill>
                  <a:srgbClr val="3B3C3A"/>
                </a:solidFill>
                <a:latin typeface="Arial"/>
              </a:rPr>
              <a:t>Duomenų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rinkinys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„100,000 UK Used Car Data set“ (Kaggle,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failas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vw.csv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) –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naudotų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Volkswagen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automobilių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pardavimo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skelbimai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Jungtinėje Karalystėje (2020 m.):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5152" y="2426253"/>
            <a:ext cx="10515600" cy="303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/>
              <a:t>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parduodamas</a:t>
            </a:r>
            <a:r>
              <a:rPr lang="en-US" b="1" dirty="0"/>
              <a:t> </a:t>
            </a:r>
            <a:r>
              <a:rPr lang="en-US" b="1" dirty="0" err="1"/>
              <a:t>automobilis</a:t>
            </a:r>
            <a:r>
              <a:rPr lang="en-US" b="1" dirty="0"/>
              <a:t> (</a:t>
            </a:r>
            <a:r>
              <a:rPr lang="en-US" i="1" dirty="0"/>
              <a:t>Kaip </a:t>
            </a:r>
            <a:r>
              <a:rPr lang="en-US" i="1" dirty="0" err="1"/>
              <a:t>konkretaus</a:t>
            </a:r>
            <a:r>
              <a:rPr lang="en-US" i="1" dirty="0"/>
              <a:t> </a:t>
            </a:r>
            <a:r>
              <a:rPr lang="en-US" i="1" dirty="0" err="1"/>
              <a:t>automobilio</a:t>
            </a:r>
            <a:r>
              <a:rPr lang="en-US" i="1" dirty="0"/>
              <a:t> </a:t>
            </a:r>
            <a:r>
              <a:rPr lang="en-US" i="1" dirty="0" err="1"/>
              <a:t>rida</a:t>
            </a:r>
            <a:r>
              <a:rPr lang="en-US" i="1" dirty="0"/>
              <a:t> </a:t>
            </a:r>
            <a:r>
              <a:rPr lang="en-US" i="1" dirty="0" err="1"/>
              <a:t>ar</a:t>
            </a:r>
            <a:r>
              <a:rPr lang="en-US" i="1" dirty="0"/>
              <a:t> </a:t>
            </a:r>
            <a:r>
              <a:rPr lang="en-US" i="1" dirty="0" err="1"/>
              <a:t>amžius</a:t>
            </a:r>
            <a:r>
              <a:rPr lang="en-US" i="1" dirty="0"/>
              <a:t> </a:t>
            </a:r>
            <a:r>
              <a:rPr lang="en-US" i="1" dirty="0" err="1"/>
              <a:t>mažina</a:t>
            </a:r>
            <a:r>
              <a:rPr lang="en-US" i="1" dirty="0"/>
              <a:t> jo </a:t>
            </a:r>
            <a:r>
              <a:rPr lang="en-US" i="1" dirty="0" err="1"/>
              <a:t>kainą</a:t>
            </a:r>
            <a:r>
              <a:rPr lang="en-US" i="1" dirty="0"/>
              <a:t>?</a:t>
            </a:r>
            <a:r>
              <a:rPr lang="en-US" b="1" dirty="0"/>
              <a:t>):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kaina</a:t>
            </a:r>
            <a:r>
              <a:rPr lang="en-US" dirty="0"/>
              <a:t> – </a:t>
            </a:r>
            <a:r>
              <a:rPr lang="en-US" dirty="0" err="1"/>
              <a:t>priklausomas</a:t>
            </a:r>
            <a:r>
              <a:rPr lang="en-US" dirty="0"/>
              <a:t> </a:t>
            </a:r>
            <a:r>
              <a:rPr lang="en-US" dirty="0" err="1"/>
              <a:t>kintamasis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amzius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metų</a:t>
            </a:r>
            <a:r>
              <a:rPr lang="en-US" dirty="0"/>
              <a:t> </a:t>
            </a:r>
            <a:r>
              <a:rPr lang="en-US" dirty="0" err="1"/>
              <a:t>mašinai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rida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mylių</a:t>
            </a:r>
            <a:r>
              <a:rPr lang="en-US" dirty="0"/>
              <a:t> </a:t>
            </a:r>
            <a:r>
              <a:rPr lang="en-US" dirty="0" err="1"/>
              <a:t>mašina</a:t>
            </a:r>
            <a:r>
              <a:rPr lang="en-US" dirty="0"/>
              <a:t> </a:t>
            </a:r>
            <a:r>
              <a:rPr lang="en-US" dirty="0" err="1"/>
              <a:t>nuvažiavusi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mpg – </a:t>
            </a:r>
            <a:r>
              <a:rPr lang="en-US" dirty="0" err="1"/>
              <a:t>automobilio</a:t>
            </a:r>
            <a:r>
              <a:rPr lang="en-US" dirty="0"/>
              <a:t> </a:t>
            </a:r>
            <a:r>
              <a:rPr lang="en-US" dirty="0" err="1"/>
              <a:t>degalų</a:t>
            </a:r>
            <a:r>
              <a:rPr lang="en-US" dirty="0"/>
              <a:t> </a:t>
            </a:r>
            <a:r>
              <a:rPr lang="en-US" dirty="0" err="1"/>
              <a:t>sąnaudos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automobilio</a:t>
            </a:r>
            <a:r>
              <a:rPr lang="en-US" b="1" dirty="0"/>
              <a:t> </a:t>
            </a:r>
            <a:r>
              <a:rPr lang="en-US" b="1" dirty="0" err="1"/>
              <a:t>modelis</a:t>
            </a:r>
            <a:r>
              <a:rPr lang="en-US" b="1" dirty="0"/>
              <a:t> (</a:t>
            </a:r>
            <a:r>
              <a:rPr lang="en-US" i="1" dirty="0" err="1"/>
              <a:t>Kodėl</a:t>
            </a:r>
            <a:r>
              <a:rPr lang="en-US" i="1" dirty="0"/>
              <a:t> </a:t>
            </a:r>
            <a:r>
              <a:rPr lang="en-US" i="1" dirty="0" err="1"/>
              <a:t>vieni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apskritai</a:t>
            </a:r>
            <a:r>
              <a:rPr lang="en-US" i="1" dirty="0"/>
              <a:t> </a:t>
            </a:r>
            <a:r>
              <a:rPr lang="en-US" i="1" dirty="0" err="1"/>
              <a:t>kainuoja</a:t>
            </a:r>
            <a:r>
              <a:rPr lang="en-US" i="1" dirty="0"/>
              <a:t> </a:t>
            </a:r>
            <a:r>
              <a:rPr lang="en-US" i="1" dirty="0" err="1"/>
              <a:t>brangiau</a:t>
            </a:r>
            <a:r>
              <a:rPr lang="en-US" i="1" dirty="0"/>
              <a:t> </a:t>
            </a:r>
            <a:r>
              <a:rPr lang="en-US" i="1" dirty="0" err="1"/>
              <a:t>nei</a:t>
            </a:r>
            <a:r>
              <a:rPr lang="en-US" i="1" dirty="0"/>
              <a:t> </a:t>
            </a:r>
            <a:r>
              <a:rPr lang="en-US" i="1" dirty="0" err="1"/>
              <a:t>kiti</a:t>
            </a:r>
            <a:r>
              <a:rPr lang="en-US" i="1" dirty="0"/>
              <a:t>, </a:t>
            </a:r>
            <a:r>
              <a:rPr lang="en-US" i="1" dirty="0" err="1"/>
              <a:t>ir</a:t>
            </a:r>
            <a:r>
              <a:rPr lang="en-US" i="1" dirty="0"/>
              <a:t> </a:t>
            </a:r>
            <a:r>
              <a:rPr lang="en-US" i="1" dirty="0" err="1"/>
              <a:t>kodėl</a:t>
            </a:r>
            <a:r>
              <a:rPr lang="en-US" i="1" dirty="0"/>
              <a:t> kai </a:t>
            </a:r>
            <a:r>
              <a:rPr lang="en-US" i="1" dirty="0" err="1"/>
              <a:t>kurie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nuvertėja</a:t>
            </a:r>
            <a:r>
              <a:rPr lang="en-US" i="1" dirty="0"/>
              <a:t> </a:t>
            </a:r>
            <a:r>
              <a:rPr lang="en-US" i="1" dirty="0" err="1"/>
              <a:t>greičiau</a:t>
            </a:r>
            <a:r>
              <a:rPr lang="en-US" b="1" dirty="0"/>
              <a:t>):</a:t>
            </a:r>
          </a:p>
          <a:p>
            <a:endParaRPr lang="en-US" b="1" dirty="0"/>
          </a:p>
          <a:p>
            <a:r>
              <a:rPr lang="en-US" dirty="0" err="1"/>
              <a:t>vid_variklis</a:t>
            </a:r>
            <a:r>
              <a:rPr lang="en-US" dirty="0"/>
              <a:t> – </a:t>
            </a:r>
            <a:r>
              <a:rPr lang="en-US" dirty="0" err="1"/>
              <a:t>modelio</a:t>
            </a:r>
            <a:r>
              <a:rPr lang="en-US" dirty="0"/>
              <a:t> </a:t>
            </a:r>
            <a:r>
              <a:rPr lang="en-US" dirty="0" err="1"/>
              <a:t>vidutinis</a:t>
            </a:r>
            <a:r>
              <a:rPr lang="en-US" dirty="0"/>
              <a:t> </a:t>
            </a:r>
            <a:r>
              <a:rPr lang="en-US" dirty="0" err="1"/>
              <a:t>variklio</a:t>
            </a:r>
            <a:r>
              <a:rPr lang="en-US" dirty="0"/>
              <a:t> </a:t>
            </a:r>
            <a:r>
              <a:rPr lang="en-US" dirty="0" err="1"/>
              <a:t>tūris</a:t>
            </a:r>
            <a:r>
              <a:rPr lang="en-US" dirty="0"/>
              <a:t> (</a:t>
            </a:r>
            <a:r>
              <a:rPr lang="en-US" dirty="0" err="1"/>
              <a:t>pvz</a:t>
            </a:r>
            <a:r>
              <a:rPr lang="en-US" dirty="0"/>
              <a:t>. </a:t>
            </a:r>
            <a:r>
              <a:rPr lang="en-US" dirty="0" err="1"/>
              <a:t>visiems</a:t>
            </a:r>
            <a:r>
              <a:rPr lang="en-US" dirty="0"/>
              <a:t> </a:t>
            </a:r>
            <a:r>
              <a:rPr lang="en-US" i="1" dirty="0"/>
              <a:t>Golf</a:t>
            </a:r>
            <a:r>
              <a:rPr lang="en-US" dirty="0"/>
              <a:t> </a:t>
            </a:r>
            <a:r>
              <a:rPr lang="en-US" dirty="0" err="1"/>
              <a:t>automobiliams</a:t>
            </a:r>
            <a:r>
              <a:rPr lang="en-US" dirty="0"/>
              <a:t> </a:t>
            </a:r>
            <a:r>
              <a:rPr lang="en-US" dirty="0" err="1"/>
              <a:t>ši</a:t>
            </a:r>
            <a:r>
              <a:rPr lang="en-US" dirty="0"/>
              <a:t> </a:t>
            </a:r>
            <a:r>
              <a:rPr lang="en-US" dirty="0" err="1"/>
              <a:t>reikšmė</a:t>
            </a:r>
            <a:r>
              <a:rPr lang="en-US" dirty="0"/>
              <a:t> bus </a:t>
            </a:r>
            <a:r>
              <a:rPr lang="en-US" dirty="0" err="1"/>
              <a:t>vienoda</a:t>
            </a:r>
            <a:r>
              <a:rPr lang="en-US" dirty="0"/>
              <a:t>).</a:t>
            </a:r>
          </a:p>
          <a:p>
            <a:pPr marL="285750" indent="-285750" algn="l">
              <a:spcAft>
                <a:spcPts val="800"/>
              </a:spcAft>
              <a:buChar char="•"/>
            </a:pPr>
            <a:endParaRPr sz="1700" b="0" i="0" dirty="0">
              <a:solidFill>
                <a:srgbClr val="3B3C3A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5152" y="580644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Po </a:t>
            </a:r>
            <a:r>
              <a:rPr sz="1500" b="0" i="0" dirty="0" err="1">
                <a:solidFill>
                  <a:schemeClr val="accent3">
                    <a:lumMod val="50000"/>
                  </a:schemeClr>
                </a:solidFill>
                <a:latin typeface="Arial"/>
              </a:rPr>
              <a:t>valymo</a:t>
            </a: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: n = 14 864 </a:t>
            </a:r>
            <a:r>
              <a:rPr sz="1500" b="0" i="0" dirty="0" err="1">
                <a:solidFill>
                  <a:schemeClr val="accent3">
                    <a:lumMod val="50000"/>
                  </a:schemeClr>
                </a:solidFill>
                <a:latin typeface="Arial"/>
              </a:rPr>
              <a:t>automobiliai</a:t>
            </a: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, 21 </a:t>
            </a:r>
            <a:r>
              <a:rPr sz="1500" b="0" i="0" dirty="0" err="1">
                <a:solidFill>
                  <a:schemeClr val="accent3">
                    <a:lumMod val="50000"/>
                  </a:schemeClr>
                </a:solidFill>
                <a:latin typeface="Arial"/>
              </a:rPr>
              <a:t>modelis</a:t>
            </a: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. Visi </a:t>
            </a:r>
            <a:r>
              <a:rPr sz="1500" b="0" i="0" dirty="0" err="1">
                <a:solidFill>
                  <a:schemeClr val="accent3">
                    <a:lumMod val="50000"/>
                  </a:schemeClr>
                </a:solidFill>
                <a:latin typeface="Arial"/>
              </a:rPr>
              <a:t>kintamieji</a:t>
            </a: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, </a:t>
            </a:r>
            <a:r>
              <a:rPr sz="1500" b="0" i="0" dirty="0" err="1">
                <a:solidFill>
                  <a:schemeClr val="accent3">
                    <a:lumMod val="50000"/>
                  </a:schemeClr>
                </a:solidFill>
                <a:latin typeface="Arial"/>
              </a:rPr>
              <a:t>išskyrus</a:t>
            </a: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 model, </a:t>
            </a:r>
            <a:r>
              <a:rPr sz="1500" b="0" i="0" dirty="0" err="1">
                <a:solidFill>
                  <a:schemeClr val="accent3">
                    <a:lumMod val="50000"/>
                  </a:schemeClr>
                </a:solidFill>
                <a:latin typeface="Arial"/>
              </a:rPr>
              <a:t>intervaliniai</a:t>
            </a: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Normalumo testas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3</a:t>
            </a:r>
          </a:p>
        </p:txBody>
      </p:sp>
      <p:pic>
        <p:nvPicPr>
          <p:cNvPr id="4" name="Picture 3" descr="Priklausomo kintamojo histogra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6309360" cy="41416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8308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Priklausomo kintamojo histograma</a:t>
            </a:r>
          </a:p>
        </p:txBody>
      </p:sp>
      <p:pic>
        <p:nvPicPr>
          <p:cNvPr id="6" name="Picture 5" descr="o_shapi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286000"/>
            <a:ext cx="3840480" cy="11595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3611880"/>
            <a:ext cx="38404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Shapiro testas normalumą atmeta (p &lt; 0,05), tačiau W = 0,986 artimas 1, o histograma beveik simetriška – nukrypimas tik kairėje uodegoje.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Besąlyginis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4</a:t>
            </a:r>
          </a:p>
        </p:txBody>
      </p:sp>
      <p:pic>
        <p:nvPicPr>
          <p:cNvPr id="4" name="Picture 3" descr="e_m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4937760" cy="1201320"/>
          </a:xfrm>
          <a:prstGeom prst="rect">
            <a:avLst/>
          </a:prstGeom>
        </p:spPr>
      </p:pic>
      <p:pic>
        <p:nvPicPr>
          <p:cNvPr id="5" name="Picture 4" descr="o_m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91640"/>
            <a:ext cx="5166360" cy="2908986"/>
          </a:xfrm>
          <a:prstGeom prst="rect">
            <a:avLst/>
          </a:prstGeom>
        </p:spPr>
      </p:pic>
      <p:pic>
        <p:nvPicPr>
          <p:cNvPr id="6" name="Picture 5" descr="e_m0e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5394960"/>
            <a:ext cx="7790688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5</a:t>
            </a:r>
          </a:p>
        </p:txBody>
      </p:sp>
      <p:pic>
        <p:nvPicPr>
          <p:cNvPr id="4" name="Picture 3" descr="e_m0e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6400800" cy="340574"/>
          </a:xfrm>
          <a:prstGeom prst="rect">
            <a:avLst/>
          </a:prstGeom>
        </p:spPr>
      </p:pic>
      <p:pic>
        <p:nvPicPr>
          <p:cNvPr id="5" name="Picture 4" descr="e_h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77440"/>
            <a:ext cx="1399032" cy="499871"/>
          </a:xfrm>
          <a:prstGeom prst="rect">
            <a:avLst/>
          </a:prstGeom>
        </p:spPr>
      </p:pic>
      <p:pic>
        <p:nvPicPr>
          <p:cNvPr id="6" name="Picture 5" descr="e_h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2377440"/>
            <a:ext cx="1383792" cy="481583"/>
          </a:xfrm>
          <a:prstGeom prst="rect">
            <a:avLst/>
          </a:prstGeom>
        </p:spPr>
      </p:pic>
      <p:pic>
        <p:nvPicPr>
          <p:cNvPr id="7" name="Picture 6" descr="e_h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2377440"/>
            <a:ext cx="1359408" cy="554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320040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Visos trys nulinės hipotezės yra atmetamos, daroma išvada, kad γ00 ≠ 0, τ00 &gt; 0, σ² &gt; 0.</a:t>
            </a:r>
          </a:p>
        </p:txBody>
      </p:sp>
      <p:pic>
        <p:nvPicPr>
          <p:cNvPr id="9" name="Picture 8" descr="e_i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77639"/>
            <a:ext cx="6400800" cy="92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1206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7A003B"/>
                </a:solidFill>
                <a:latin typeface="Arial"/>
              </a:rPr>
              <a:t>Apie 65,4 % naudotų VW kainų priklauso nuo automobilio modelio.</a:t>
            </a:r>
          </a:p>
        </p:txBody>
      </p:sp>
      <p:pic>
        <p:nvPicPr>
          <p:cNvPr id="11" name="Picture 10" descr="o_m0i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691640"/>
            <a:ext cx="3703320" cy="16242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5240" y="3407343"/>
            <a:ext cx="3703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97979"/>
                </a:solidFill>
                <a:latin typeface="Arial"/>
              </a:rPr>
              <a:t>intervals(model.0): standartinių nuokrypių PI neapima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 lygmens kintamųjų koreliacijos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6</a:t>
            </a:r>
          </a:p>
        </p:txBody>
      </p:sp>
      <p:pic>
        <p:nvPicPr>
          <p:cNvPr id="4" name="Picture 3" descr="o_c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5029200" cy="190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40233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Stipriausiai koreliuoja amžius ir rida (r = 0,763): senesni automobiliai daugiau nuvažiavę.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Koreliacija mažesnė už 0,8, todėl stipraus multikolinearumo nėra – abu kintamieji paliekami. mpg su kitais koreliuoja vidutiniškai (≈ 0,40).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Dviejų lygmenų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472928" cy="263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8</a:t>
            </a:r>
          </a:p>
        </p:txBody>
      </p:sp>
      <p:pic>
        <p:nvPicPr>
          <p:cNvPr id="4" name="Picture 3" descr="o_m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132320" cy="4489769"/>
          </a:xfrm>
          <a:prstGeom prst="rect">
            <a:avLst/>
          </a:prstGeom>
        </p:spPr>
      </p:pic>
      <p:pic>
        <p:nvPicPr>
          <p:cNvPr id="5" name="Picture 4" descr="e_m1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83080"/>
            <a:ext cx="2977896" cy="37581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515600" cy="291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vid_variklis·amzius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10</a:t>
            </a:r>
          </a:p>
        </p:txBody>
      </p:sp>
      <p:pic>
        <p:nvPicPr>
          <p:cNvPr id="4" name="Picture 3" descr="o_m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200899" cy="3429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525780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be sąveikos Akaikės indeksas: −14 125,56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su sąveika I Akaikės indeksas: −14 125,61  (L.Ratio = 2,04; p = 0,153)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515600" cy="2992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12</a:t>
            </a:r>
          </a:p>
        </p:txBody>
      </p:sp>
      <p:pic>
        <p:nvPicPr>
          <p:cNvPr id="4" name="Picture 3" descr="o_m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6119530" cy="3017520"/>
          </a:xfrm>
          <a:prstGeom prst="rect">
            <a:avLst/>
          </a:prstGeom>
        </p:spPr>
      </p:pic>
      <p:pic>
        <p:nvPicPr>
          <p:cNvPr id="5" name="Picture 4" descr="o_anova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892040"/>
            <a:ext cx="7258507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783080"/>
            <a:ext cx="324612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be sąveikos Akaikės indeksas: −14 125,56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su sąveika 2 Akaikės indeksas: −14 135,11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7A003B"/>
                </a:solidFill>
                <a:latin typeface="Arial"/>
              </a:rPr>
              <a:t>Sąveikos koeficientas reikšmingas (p &lt; 0,001); modeliai statistiškai reikšmingai skiriasi (p = 0,0007), mažesni ir AIC, ir BIC.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7150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3C3A"/>
                </a:solidFill>
                <a:latin typeface="Arial"/>
              </a:rPr>
              <a:t>Galutiniu modeliu renkamės modelį su sąveika 2 (AIC pokytis kuklus – 9,6).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Galutinio modelio 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13</a:t>
            </a:r>
          </a:p>
        </p:txBody>
      </p:sp>
      <p:pic>
        <p:nvPicPr>
          <p:cNvPr id="4" name="Picture 3" descr="o_m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315200" cy="3607100"/>
          </a:xfrm>
          <a:prstGeom prst="rect">
            <a:avLst/>
          </a:prstGeom>
        </p:spPr>
      </p:pic>
      <p:pic>
        <p:nvPicPr>
          <p:cNvPr id="5" name="Picture 4" descr="e_m4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737360"/>
            <a:ext cx="2788920" cy="375662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Jungtinė lygtis su įverčiais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14</a:t>
            </a:r>
          </a:p>
        </p:txBody>
      </p:sp>
      <p:pic>
        <p:nvPicPr>
          <p:cNvPr id="4" name="Picture 3" descr="e_joint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10515600" cy="7216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733338"/>
            <a:ext cx="105156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Visi fiksuoto poveikio parametrai statistiškai reikšmingi (p &lt; 0,05).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Y = log(kaina), todėl poveikis procentais = (e^koef − 1)·100: kiekvieni metai −9,5 %, 1000 mylių ridos −0,45 %.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mpg poveikis priklauso nuo variklio: +1 mpg sumažina kainą ≈ 0,66 % (1 l), ≈ 0,87 % (2 l), ≈ 1,07 % (3 l).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Amžiaus nuolydžio st. nuokrypis 0,021 – modeliai nuvertėja nevienodai (Caravelle ≈ 5,9 %, Beetle ≈ 13,3 % per metus).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Lyginant su besąlyginiu modeliu 79,3 % sumažėjo modeliu nepaaiškintų kainų skirtumų:</a:t>
            </a:r>
          </a:p>
        </p:txBody>
      </p:sp>
      <p:pic>
        <p:nvPicPr>
          <p:cNvPr id="5" name="Picture 4" descr="e_sigma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194560"/>
            <a:ext cx="612119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36118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Akaikės indeksas statistiškai reikšmingai sumažėjo (23 339 vienetais, &gt; 10):</a:t>
            </a:r>
          </a:p>
        </p:txBody>
      </p:sp>
      <p:pic>
        <p:nvPicPr>
          <p:cNvPr id="7" name="Picture 6" descr="o_anova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206240"/>
            <a:ext cx="8174736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16</a:t>
            </a:r>
          </a:p>
        </p:txBody>
      </p:sp>
      <p:pic>
        <p:nvPicPr>
          <p:cNvPr id="4" name="Picture 3" descr="Liekanų q-q grafik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5074920" cy="3721608"/>
          </a:xfrm>
          <a:prstGeom prst="rect">
            <a:avLst/>
          </a:prstGeom>
        </p:spPr>
      </p:pic>
      <p:pic>
        <p:nvPicPr>
          <p:cNvPr id="5" name="Picture 4" descr="Liekanos prieš prognozuojamas reikšm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37360"/>
            <a:ext cx="5074920" cy="3721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53212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qqnorm(model.4reml, ~resid(.)) – visai panašu į normalumą, nukrypimai tik kairėje uodegoje. Liekanų sklaida apie 0 vienoda – homoskedastiškumas tenkinamas.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17</a:t>
            </a:r>
          </a:p>
        </p:txBody>
      </p:sp>
      <p:pic>
        <p:nvPicPr>
          <p:cNvPr id="4" name="Picture 3" descr="Atsitiktinių efektų q-q grafika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7315200" cy="357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920240"/>
            <a:ext cx="292608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qqnorm(model.4reml, ~ranef(.))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Atsitiktinių efektų u0 ir u1 taškai išsidėstę apie tiesę – normalumas apytiksliai tenkinamas.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Kas negerai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Modelis su sąveika I turėjo nereikšmingą sąveikos koeficientą (p = 0,140) – ši sąveika nereikalinga.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Galutinio modelio su sąveika 2 AIC pokytis, palyginti su modeliu be sąveikos, kuklus (9,6 &lt; 10); didelėje imtyje reikšmingi tampa ir maži efektai.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Shapiro testas normalumą atmeta; liekanų kairėje uodegoje – keli itin pigūs skelbimai.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Kainos – skelbimų, ne sandorių; tirta tik viena markė (VW).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Lidija Puščiūtė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Darja Baranova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Kodas ir duomenys: github.com/LidijaPu/K6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AČIŪ!</a:t>
            </a:r>
          </a:p>
        </p:txBody>
      </p:sp>
    </p:spTree>
    <p:extLst>
      <p:ext uri="{BB962C8B-B14F-4D97-AF65-F5344CB8AC3E}">
        <p14:creationId xmlns:p14="http://schemas.microsoft.com/office/powerpoint/2010/main" val="87890934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16855</TotalTime>
  <Words>913</Words>
  <Application>Microsoft Macintosh PowerPoint</Application>
  <PresentationFormat>Widescreen</PresentationFormat>
  <Paragraphs>89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GT Walsheim</vt:lpstr>
      <vt:lpstr>Custom Design</vt:lpstr>
      <vt:lpstr>1_Custom Design</vt:lpstr>
      <vt:lpstr>NAUDOTŲ VOLKSWAGEN KAINŲ PROGNOZĖ TAIKANT HLM</vt:lpstr>
      <vt:lpstr>Duomenys</vt:lpstr>
      <vt:lpstr>Normalumo testas</vt:lpstr>
      <vt:lpstr>Besąlyginis modelis</vt:lpstr>
      <vt:lpstr>ICC</vt:lpstr>
      <vt:lpstr>I lygmens kintamųjų koreliacijos</vt:lpstr>
      <vt:lpstr>Dviejų lygmenų modelis</vt:lpstr>
      <vt:lpstr>Parametrų įverčiai</vt:lpstr>
      <vt:lpstr>Modelis su sąveika I</vt:lpstr>
      <vt:lpstr>Modelių palyginimas</vt:lpstr>
      <vt:lpstr>Modelis su sąveika 2</vt:lpstr>
      <vt:lpstr>Modelių palyginimas</vt:lpstr>
      <vt:lpstr>Galutinio modelio parametrų įverčiai</vt:lpstr>
      <vt:lpstr>Jungtinė lygtis su įverčiais</vt:lpstr>
      <vt:lpstr>Modelių palyginimas</vt:lpstr>
      <vt:lpstr>Prielaidų tikrinimas</vt:lpstr>
      <vt:lpstr>Prielaidų tikrinimas</vt:lpstr>
      <vt:lpstr>Kas negerai</vt:lpstr>
      <vt:lpstr>AČIŪ!</vt:lpstr>
    </vt:vector>
  </TitlesOfParts>
  <Company>Vilniaus universitetas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Rokas Aleliūnas</dc:creator>
  <cp:lastModifiedBy>Darja Baranova</cp:lastModifiedBy>
  <cp:revision>98</cp:revision>
  <dcterms:created xsi:type="dcterms:W3CDTF">2017-06-28T06:49:28Z</dcterms:created>
  <dcterms:modified xsi:type="dcterms:W3CDTF">2026-10-29T14:06:05Z</dcterms:modified>
</cp:coreProperties>
</file>