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710" r:id="rId2"/>
  </p:sldMasterIdLst>
  <p:sldIdLst>
    <p:sldId id="256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290" r:id="rId21"/>
  </p:sldIdLst>
  <p:sldSz cx="12192000" cy="6858000"/>
  <p:notesSz cx="6858000" cy="9144000"/>
  <p:defaultTextStyle>
    <a:defPPr>
      <a:defRPr lang="lt-L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800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82" autoAdjust="0"/>
    <p:restoredTop sz="95652"/>
  </p:normalViewPr>
  <p:slideViewPr>
    <p:cSldViewPr snapToGrid="0">
      <p:cViewPr varScale="1">
        <p:scale>
          <a:sx n="114" d="100"/>
          <a:sy n="114" d="100"/>
        </p:scale>
        <p:origin x="464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93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9016" y="459481"/>
            <a:ext cx="3647137" cy="1365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34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0"/>
            <a:ext cx="2970720" cy="1112258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0465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67221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1191197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515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7486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31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552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821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92359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441136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79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8144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41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205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726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6800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8218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774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2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472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1722876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96455" y="599440"/>
            <a:ext cx="3103721" cy="1162056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608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35300" y="4043088"/>
            <a:ext cx="8560955" cy="2305050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2521776" y="3493564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94661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449990"/>
            <a:ext cx="3672482" cy="1375005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7" y="3102776"/>
            <a:ext cx="5396345" cy="3481198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5946098" y="2667741"/>
            <a:ext cx="1754297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70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ulinė skaidrė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96736" y="586111"/>
            <a:ext cx="2967867" cy="1111192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ctrTitle" hasCustomPrompt="1"/>
          </p:nvPr>
        </p:nvSpPr>
        <p:spPr>
          <a:xfrm>
            <a:off x="6458528" y="3338945"/>
            <a:ext cx="5396345" cy="3186462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6096000" y="2869785"/>
            <a:ext cx="1410475" cy="1341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3587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464058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6054725" y="1889760"/>
            <a:ext cx="5483860" cy="8331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055360" y="3024493"/>
            <a:ext cx="5483225" cy="3345510"/>
          </a:xfrm>
        </p:spPr>
        <p:txBody>
          <a:bodyPr/>
          <a:lstStyle>
            <a:lvl1pPr marL="457200" marR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lvl1pPr>
          </a:lstStyle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tx1"/>
              </a:buClr>
              <a:buSzPct val="108000"/>
              <a:buFont typeface="+mj-lt"/>
              <a:buAutoNum type="arabicPeriod"/>
              <a:tabLst/>
              <a:defRPr/>
            </a:pPr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  <a:p>
            <a:pPr lvl="0"/>
            <a:endParaRPr lang="lt-LT" dirty="0"/>
          </a:p>
          <a:p>
            <a:pPr lvl="0"/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20881847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186842"/>
            <a:ext cx="9053945" cy="1126868"/>
          </a:xfrm>
        </p:spPr>
        <p:txBody>
          <a:bodyPr/>
          <a:lstStyle/>
          <a:p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title</a:t>
            </a:r>
            <a:r>
              <a:rPr lang="lt-LT" dirty="0"/>
              <a:t> </a:t>
            </a:r>
            <a:r>
              <a:rPr lang="lt-LT" dirty="0" err="1"/>
              <a:t>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838200" y="2512405"/>
            <a:ext cx="9053945" cy="3597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9334997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ėlis ir teks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6591" y="1392063"/>
            <a:ext cx="6796209" cy="1216922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4176568" y="2909455"/>
            <a:ext cx="6796088" cy="317889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Picture Placeholder 7"/>
          <p:cNvSpPr>
            <a:spLocks noGrp="1"/>
          </p:cNvSpPr>
          <p:nvPr>
            <p:ph type="pic" sz="quarter" idx="13"/>
          </p:nvPr>
        </p:nvSpPr>
        <p:spPr>
          <a:xfrm>
            <a:off x="0" y="7938"/>
            <a:ext cx="3035300" cy="68421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0895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Rectangle 4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63004" y="58939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71824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9943144" y="4727407"/>
            <a:ext cx="1943100" cy="1765468"/>
          </a:xfrm>
          <a:noFill/>
          <a:ln>
            <a:noFill/>
          </a:ln>
        </p:spPr>
        <p:txBody>
          <a:bodyPr anchor="b">
            <a:normAutofit/>
          </a:bodyPr>
          <a:lstStyle>
            <a:lvl1pPr algn="r">
              <a:defRPr sz="9600" b="1">
                <a:solidFill>
                  <a:schemeClr val="tx1"/>
                </a:solidFill>
                <a:latin typeface="GT Walsheim" charset="0"/>
                <a:ea typeface="GT Walsheim" charset="0"/>
                <a:cs typeface="GT Walsheim" charset="0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40897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kyriaus pavadinima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105870" y="1003148"/>
            <a:ext cx="5031696" cy="3657600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576213" y="57336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086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kstas ir paveikslėli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/>
          <p:cNvSpPr>
            <a:spLocks noGrp="1"/>
          </p:cNvSpPr>
          <p:nvPr>
            <p:ph type="pic" sz="quarter" idx="13"/>
          </p:nvPr>
        </p:nvSpPr>
        <p:spPr>
          <a:xfrm>
            <a:off x="4517136" y="0"/>
            <a:ext cx="7674864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576" y="1314510"/>
            <a:ext cx="3576408" cy="140562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/>
          </p:nvPr>
        </p:nvSpPr>
        <p:spPr>
          <a:xfrm>
            <a:off x="435864" y="3267940"/>
            <a:ext cx="3576408" cy="31444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2505080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56227" y="755793"/>
            <a:ext cx="5332846" cy="376150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490277" y="2636548"/>
            <a:ext cx="4918075" cy="35746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630533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ita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36750" y="2093595"/>
            <a:ext cx="8318500" cy="2707005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3035300" cy="934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1104275" y="1724494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 userDrawn="1"/>
        </p:nvSpPr>
        <p:spPr>
          <a:xfrm>
            <a:off x="9409039" y="5038690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3597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veiksllis ir 3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0"/>
          </p:nvPr>
        </p:nvSpPr>
        <p:spPr>
          <a:xfrm>
            <a:off x="838201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4499264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2"/>
          </p:nvPr>
        </p:nvSpPr>
        <p:spPr>
          <a:xfrm>
            <a:off x="8160327" y="3075709"/>
            <a:ext cx="3193472" cy="3075854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6192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 userDrawn="1"/>
        </p:nvSpPr>
        <p:spPr>
          <a:xfrm>
            <a:off x="4302204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 userDrawn="1"/>
        </p:nvSpPr>
        <p:spPr>
          <a:xfrm>
            <a:off x="7963267" y="277309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1421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ys stulpeli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838201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4499264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8160327" y="1773528"/>
            <a:ext cx="3193472" cy="4323629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64630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4286582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7947645" y="1470919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 userDrawn="1"/>
        </p:nvSpPr>
        <p:spPr>
          <a:xfrm>
            <a:off x="0" y="0"/>
            <a:ext cx="3271520" cy="853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207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pun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/>
          <p:cNvSpPr>
            <a:spLocks noGrp="1"/>
          </p:cNvSpPr>
          <p:nvPr>
            <p:ph type="body" sz="quarter" idx="13"/>
          </p:nvPr>
        </p:nvSpPr>
        <p:spPr>
          <a:xfrm>
            <a:off x="100446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9" name="Rectangle 8"/>
          <p:cNvSpPr/>
          <p:nvPr userDrawn="1"/>
        </p:nvSpPr>
        <p:spPr>
          <a:xfrm>
            <a:off x="79177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100446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3" name="Rectangle 12"/>
          <p:cNvSpPr/>
          <p:nvPr userDrawn="1"/>
        </p:nvSpPr>
        <p:spPr>
          <a:xfrm>
            <a:off x="79177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5"/>
          </p:nvPr>
        </p:nvSpPr>
        <p:spPr>
          <a:xfrm>
            <a:off x="6889750" y="190745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6677068" y="160484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6889750" y="4284893"/>
            <a:ext cx="4396739" cy="1740450"/>
          </a:xfrm>
        </p:spPr>
        <p:txBody>
          <a:bodyPr/>
          <a:lstStyle/>
          <a:p>
            <a:pPr lvl="0"/>
            <a:r>
              <a:rPr lang="lt-LT" dirty="0" err="1"/>
              <a:t>Click</a:t>
            </a:r>
            <a:r>
              <a:rPr lang="lt-LT" dirty="0"/>
              <a:t> to </a:t>
            </a:r>
            <a:r>
              <a:rPr lang="lt-LT" dirty="0" err="1"/>
              <a:t>edit</a:t>
            </a:r>
            <a:r>
              <a:rPr lang="lt-LT" dirty="0"/>
              <a:t> </a:t>
            </a:r>
            <a:r>
              <a:rPr lang="lt-LT" dirty="0" err="1"/>
              <a:t>Master</a:t>
            </a:r>
            <a:r>
              <a:rPr lang="lt-LT" dirty="0"/>
              <a:t> </a:t>
            </a:r>
            <a:r>
              <a:rPr lang="lt-LT" dirty="0" err="1"/>
              <a:t>text</a:t>
            </a:r>
            <a:r>
              <a:rPr lang="lt-LT" dirty="0"/>
              <a:t> </a:t>
            </a:r>
            <a:r>
              <a:rPr lang="lt-LT" dirty="0" err="1"/>
              <a:t>styles</a:t>
            </a:r>
            <a:endParaRPr lang="lt-LT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6677068" y="3982283"/>
            <a:ext cx="425364" cy="115574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7910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5010150" cy="3956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hart Placeholder 3"/>
          <p:cNvSpPr>
            <a:spLocks noGrp="1"/>
          </p:cNvSpPr>
          <p:nvPr>
            <p:ph type="chart" sz="quarter" idx="11"/>
          </p:nvPr>
        </p:nvSpPr>
        <p:spPr>
          <a:xfrm>
            <a:off x="6172511" y="2156460"/>
            <a:ext cx="5010150" cy="39560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8060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ka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10"/>
          </p:nvPr>
        </p:nvSpPr>
        <p:spPr>
          <a:xfrm>
            <a:off x="838200" y="2156460"/>
            <a:ext cx="9561513" cy="40195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92600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ruktū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4" name="SmartArt Placeholder 3"/>
          <p:cNvSpPr>
            <a:spLocks noGrp="1"/>
          </p:cNvSpPr>
          <p:nvPr>
            <p:ph type="dgm" sz="quarter" idx="10"/>
          </p:nvPr>
        </p:nvSpPr>
        <p:spPr>
          <a:xfrm>
            <a:off x="838200" y="2041525"/>
            <a:ext cx="8929255" cy="4221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55134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t-LT"/>
              <a:t>Click to edit Master title style</a:t>
            </a:r>
            <a:endParaRPr lang="en-US"/>
          </a:p>
        </p:txBody>
      </p:sp>
      <p:sp>
        <p:nvSpPr>
          <p:cNvPr id="6" name="Table Placeholder 5"/>
          <p:cNvSpPr>
            <a:spLocks noGrp="1"/>
          </p:cNvSpPr>
          <p:nvPr>
            <p:ph type="tbl" sz="quarter" idx="10"/>
          </p:nvPr>
        </p:nvSpPr>
        <p:spPr>
          <a:xfrm>
            <a:off x="838200" y="2041525"/>
            <a:ext cx="8929688" cy="411003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65361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20521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veikslėlių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6096000" y="0"/>
            <a:ext cx="6096000" cy="227647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5825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išraus turinio koliaž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6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006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Picture Placeholder 8"/>
          <p:cNvSpPr>
            <a:spLocks noGrp="1"/>
          </p:cNvSpPr>
          <p:nvPr>
            <p:ph type="pic" sz="quarter" idx="11"/>
          </p:nvPr>
        </p:nvSpPr>
        <p:spPr>
          <a:xfrm>
            <a:off x="6096000" y="2276475"/>
            <a:ext cx="6096000" cy="457358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2"/>
          </p:nvPr>
        </p:nvSpPr>
        <p:spPr>
          <a:xfrm>
            <a:off x="6423660" y="320041"/>
            <a:ext cx="5394960" cy="16916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385794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a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83671" y="594653"/>
            <a:ext cx="3116505" cy="1166843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6389255" y="4279271"/>
            <a:ext cx="5394325" cy="203390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6389255" y="3221287"/>
            <a:ext cx="5396345" cy="83312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PAVADINIMAS</a:t>
            </a:r>
          </a:p>
        </p:txBody>
      </p:sp>
      <p:sp>
        <p:nvSpPr>
          <p:cNvPr id="12" name="Rectangle 11"/>
          <p:cNvSpPr/>
          <p:nvPr userDrawn="1"/>
        </p:nvSpPr>
        <p:spPr>
          <a:xfrm>
            <a:off x="5849598" y="2855328"/>
            <a:ext cx="1692421" cy="1410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84027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1.xml"/><Relationship Id="rId19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44.xml"/><Relationship Id="rId22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46.xml"/><Relationship Id="rId24" Type="http://schemas.openxmlformats.org/officeDocument/2006/relationships/theme" Target="../theme/theme2.xml"/><Relationship Id="rId25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527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76" r:id="rId2"/>
    <p:sldLayoutId id="2147483678" r:id="rId3"/>
    <p:sldLayoutId id="2147483683" r:id="rId4"/>
    <p:sldLayoutId id="2147483709" r:id="rId5"/>
    <p:sldLayoutId id="2147483654" r:id="rId6"/>
    <p:sldLayoutId id="2147483655" r:id="rId7"/>
    <p:sldLayoutId id="2147483680" r:id="rId8"/>
    <p:sldLayoutId id="2147483677" r:id="rId9"/>
    <p:sldLayoutId id="2147483656" r:id="rId10"/>
    <p:sldLayoutId id="2147483658" r:id="rId11"/>
    <p:sldLayoutId id="2147483684" r:id="rId12"/>
    <p:sldLayoutId id="2147483679" r:id="rId13"/>
    <p:sldLayoutId id="2147483685" r:id="rId14"/>
    <p:sldLayoutId id="2147483686" r:id="rId15"/>
    <p:sldLayoutId id="2147483730" r:id="rId16"/>
    <p:sldLayoutId id="2147483731" r:id="rId17"/>
    <p:sldLayoutId id="2147483734" r:id="rId18"/>
    <p:sldLayoutId id="2147483735" r:id="rId19"/>
    <p:sldLayoutId id="2147483659" r:id="rId20"/>
    <p:sldLayoutId id="2147483687" r:id="rId21"/>
    <p:sldLayoutId id="2147483688" r:id="rId22"/>
    <p:sldLayoutId id="2147483682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 userDrawn="1">
          <p15:clr>
            <a:srgbClr val="F26B43"/>
          </p15:clr>
        </p15:guide>
        <p15:guide id="2" userDrawn="1">
          <p15:clr>
            <a:srgbClr val="F26B43"/>
          </p15:clr>
        </p15:guide>
        <p15:guide id="3" pos="5768" userDrawn="1">
          <p15:clr>
            <a:srgbClr val="F26B43"/>
          </p15:clr>
        </p15:guide>
        <p15:guide id="4" pos="1912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pos="7680" userDrawn="1">
          <p15:clr>
            <a:srgbClr val="F26B43"/>
          </p15:clr>
        </p15:guide>
        <p15:guide id="7" orient="horz" pos="1434" userDrawn="1">
          <p15:clr>
            <a:srgbClr val="F26B43"/>
          </p15:clr>
        </p15:guide>
        <p15:guide id="8" orient="horz" pos="2886" userDrawn="1">
          <p15:clr>
            <a:srgbClr val="F26B43"/>
          </p15:clr>
        </p15:guide>
        <p15:guide id="9" orient="horz" pos="431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5"/>
          <a:stretch>
            <a:fillRect/>
          </a:stretch>
        </p:blipFill>
        <p:spPr>
          <a:xfrm>
            <a:off x="10163004" y="521818"/>
            <a:ext cx="1447800" cy="444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715787"/>
            <a:ext cx="8929255" cy="13255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276475"/>
            <a:ext cx="8929255" cy="3148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Footer Placeholder 4"/>
          <p:cNvSpPr txBox="1">
            <a:spLocks/>
          </p:cNvSpPr>
          <p:nvPr userDrawn="1"/>
        </p:nvSpPr>
        <p:spPr>
          <a:xfrm>
            <a:off x="6770747" y="6356350"/>
            <a:ext cx="37143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lt-LT"/>
            </a:defPPr>
            <a:lvl1pPr marL="0" algn="ctr" defTabSz="914400" rtl="0" eaLnBrk="1" latinLnBrk="0" hangingPunct="1">
              <a:defRPr sz="1200" kern="1200">
                <a:solidFill>
                  <a:schemeClr val="bg1">
                    <a:lumMod val="50000"/>
                  </a:schemeClr>
                </a:solidFill>
                <a:latin typeface="GT Walsheim" charset="0"/>
                <a:ea typeface="GT Walsheim" charset="0"/>
                <a:cs typeface="GT Walsheim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8190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  <p:sldLayoutId id="2147483725" r:id="rId15"/>
    <p:sldLayoutId id="2147483732" r:id="rId16"/>
    <p:sldLayoutId id="2147483733" r:id="rId17"/>
    <p:sldLayoutId id="2147483736" r:id="rId18"/>
    <p:sldLayoutId id="2147483737" r:id="rId19"/>
    <p:sldLayoutId id="2147483726" r:id="rId20"/>
    <p:sldLayoutId id="2147483727" r:id="rId21"/>
    <p:sldLayoutId id="2147483728" r:id="rId22"/>
    <p:sldLayoutId id="2147483729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/>
        <a:buNone/>
        <a:defRPr sz="2000" kern="1200">
          <a:solidFill>
            <a:schemeClr val="tx1"/>
          </a:solidFill>
          <a:latin typeface="Arial" charset="0"/>
          <a:ea typeface="Arial" charset="0"/>
          <a:cs typeface="Arial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20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8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/>
        <a:buNone/>
        <a:defRPr sz="1600" kern="1200">
          <a:solidFill>
            <a:schemeClr val="bg1">
              <a:lumMod val="50000"/>
            </a:schemeClr>
          </a:solidFill>
          <a:latin typeface="GT Walsheim" charset="0"/>
          <a:ea typeface="GT Walsheim" charset="0"/>
          <a:cs typeface="GT Walsheim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">
          <p15:clr>
            <a:srgbClr val="F26B43"/>
          </p15:clr>
        </p15:guide>
        <p15:guide id="2">
          <p15:clr>
            <a:srgbClr val="F26B43"/>
          </p15:clr>
        </p15:guide>
        <p15:guide id="3" pos="5768">
          <p15:clr>
            <a:srgbClr val="F26B43"/>
          </p15:clr>
        </p15:guide>
        <p15:guide id="4" pos="1912">
          <p15:clr>
            <a:srgbClr val="F26B43"/>
          </p15:clr>
        </p15:guide>
        <p15:guide id="5" pos="3840">
          <p15:clr>
            <a:srgbClr val="F26B43"/>
          </p15:clr>
        </p15:guide>
        <p15:guide id="6" pos="7680">
          <p15:clr>
            <a:srgbClr val="F26B43"/>
          </p15:clr>
        </p15:guide>
        <p15:guide id="7" orient="horz" pos="1434">
          <p15:clr>
            <a:srgbClr val="F26B43"/>
          </p15:clr>
        </p15:guide>
        <p15:guide id="8" orient="horz" pos="2886">
          <p15:clr>
            <a:srgbClr val="F26B43"/>
          </p15:clr>
        </p15:guide>
        <p15:guide id="9" orient="horz" pos="4315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6.png"/><Relationship Id="rId3" Type="http://schemas.openxmlformats.org/officeDocument/2006/relationships/image" Target="../media/image4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9.png"/><Relationship Id="rId3" Type="http://schemas.openxmlformats.org/officeDocument/2006/relationships/image" Target="../media/image4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0.png"/><Relationship Id="rId3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1.png"/><Relationship Id="rId3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5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6.png"/><Relationship Id="rId3" Type="http://schemas.openxmlformats.org/officeDocument/2006/relationships/image" Target="../media/image3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5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1.png"/><Relationship Id="rId3" Type="http://schemas.openxmlformats.org/officeDocument/2006/relationships/image" Target="../media/image4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NAUDOTŲ VOLKSWAGEN KAINŲ PROGNOZĖ TAIKANT HLM</a:t>
            </a:r>
            <a:endParaRPr lang="en-US" sz="5400" dirty="0"/>
          </a:p>
        </p:txBody>
      </p:sp>
      <p:sp>
        <p:nvSpPr>
          <p:cNvPr id="3" name="TextBox 2"/>
          <p:cNvSpPr txBox="1"/>
          <p:nvPr/>
        </p:nvSpPr>
        <p:spPr>
          <a:xfrm>
            <a:off x="3127248" y="580644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Savarankiškas HLM · K6(10) · Taikomoji daugiamatė analizė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Lidija Puščiūtė, Darja Baranova · 2026</a:t>
            </a:r>
          </a:p>
        </p:txBody>
      </p:sp>
    </p:spTree>
    <p:extLst>
      <p:ext uri="{BB962C8B-B14F-4D97-AF65-F5344CB8AC3E}">
        <p14:creationId xmlns:p14="http://schemas.microsoft.com/office/powerpoint/2010/main" val="183764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Duomenys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 dirty="0">
                <a:solidFill>
                  <a:srgbClr val="797979"/>
                </a:solidFill>
                <a:latin typeface="Arial"/>
              </a:rPr>
              <a:t>K6 HLM · VW </a:t>
            </a:r>
            <a:r>
              <a:rPr sz="1000" b="0" i="0" dirty="0" err="1">
                <a:solidFill>
                  <a:srgbClr val="797979"/>
                </a:solidFill>
                <a:latin typeface="Arial"/>
              </a:rPr>
              <a:t>kainos</a:t>
            </a:r>
            <a:r>
              <a:rPr sz="1000" b="0" i="0" dirty="0">
                <a:solidFill>
                  <a:srgbClr val="797979"/>
                </a:solidFill>
                <a:latin typeface="Arial"/>
              </a:rPr>
              <a:t>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 dirty="0">
                <a:solidFill>
                  <a:srgbClr val="3B3C3A"/>
                </a:solidFill>
                <a:latin typeface="Arial"/>
              </a:rPr>
              <a:t>Duomenų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rinkinys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„100,000 UK Used Car Data set“ (Kaggle,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failas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vw.csv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) –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naudotų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Volkswagen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automobilių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pardavimo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</a:t>
            </a:r>
            <a:r>
              <a:rPr sz="1700" b="0" i="0" dirty="0" err="1">
                <a:solidFill>
                  <a:srgbClr val="3B3C3A"/>
                </a:solidFill>
                <a:latin typeface="Arial"/>
              </a:rPr>
              <a:t>skelbimai</a:t>
            </a:r>
            <a:r>
              <a:rPr sz="1700" b="0" i="0" dirty="0">
                <a:solidFill>
                  <a:srgbClr val="3B3C3A"/>
                </a:solidFill>
                <a:latin typeface="Arial"/>
              </a:rPr>
              <a:t> Jungtinėje Karalystėje (2020 m.):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5152" y="2426253"/>
            <a:ext cx="10515600" cy="303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b="1" dirty="0"/>
              <a:t>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parduodamas</a:t>
            </a:r>
            <a:r>
              <a:rPr lang="en-US" b="1" dirty="0"/>
              <a:t> </a:t>
            </a:r>
            <a:r>
              <a:rPr lang="en-US" b="1" dirty="0" err="1"/>
              <a:t>automobilis</a:t>
            </a:r>
            <a:r>
              <a:rPr lang="en-US" b="1" dirty="0"/>
              <a:t> (</a:t>
            </a:r>
            <a:r>
              <a:rPr lang="en-US" i="1" dirty="0"/>
              <a:t>Kaip </a:t>
            </a:r>
            <a:r>
              <a:rPr lang="en-US" i="1" dirty="0" err="1"/>
              <a:t>konkretaus</a:t>
            </a:r>
            <a:r>
              <a:rPr lang="en-US" i="1" dirty="0"/>
              <a:t> </a:t>
            </a:r>
            <a:r>
              <a:rPr lang="en-US" i="1" dirty="0" err="1"/>
              <a:t>automobilio</a:t>
            </a:r>
            <a:r>
              <a:rPr lang="en-US" i="1" dirty="0"/>
              <a:t> </a:t>
            </a:r>
            <a:r>
              <a:rPr lang="en-US" i="1" dirty="0" err="1"/>
              <a:t>rida</a:t>
            </a:r>
            <a:r>
              <a:rPr lang="en-US" i="1" dirty="0"/>
              <a:t> </a:t>
            </a:r>
            <a:r>
              <a:rPr lang="en-US" i="1" dirty="0" err="1"/>
              <a:t>ar</a:t>
            </a:r>
            <a:r>
              <a:rPr lang="en-US" i="1" dirty="0"/>
              <a:t> </a:t>
            </a:r>
            <a:r>
              <a:rPr lang="en-US" i="1" dirty="0" err="1"/>
              <a:t>amžius</a:t>
            </a:r>
            <a:r>
              <a:rPr lang="en-US" i="1" dirty="0"/>
              <a:t> </a:t>
            </a:r>
            <a:r>
              <a:rPr lang="en-US" i="1" dirty="0" err="1"/>
              <a:t>mažina</a:t>
            </a:r>
            <a:r>
              <a:rPr lang="en-US" i="1" dirty="0"/>
              <a:t> jo </a:t>
            </a:r>
            <a:r>
              <a:rPr lang="en-US" i="1" dirty="0" err="1"/>
              <a:t>kainą</a:t>
            </a:r>
            <a:r>
              <a:rPr lang="en-US" i="1" dirty="0"/>
              <a:t>?</a:t>
            </a:r>
            <a:r>
              <a:rPr lang="en-US" b="1" dirty="0"/>
              <a:t>):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kaina</a:t>
            </a:r>
            <a:r>
              <a:rPr lang="en-US" dirty="0"/>
              <a:t> – </a:t>
            </a:r>
            <a:r>
              <a:rPr lang="en-US" dirty="0" err="1"/>
              <a:t>priklausomas</a:t>
            </a:r>
            <a:r>
              <a:rPr lang="en-US" dirty="0"/>
              <a:t> </a:t>
            </a:r>
            <a:r>
              <a:rPr lang="en-US" dirty="0" err="1"/>
              <a:t>kintamasis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amzius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metų</a:t>
            </a:r>
            <a:r>
              <a:rPr lang="en-US" dirty="0"/>
              <a:t> </a:t>
            </a:r>
            <a:r>
              <a:rPr lang="en-US" dirty="0" err="1"/>
              <a:t>mašinai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 err="1"/>
              <a:t>rida</a:t>
            </a:r>
            <a:r>
              <a:rPr lang="en-US" dirty="0"/>
              <a:t> – </a:t>
            </a:r>
            <a:r>
              <a:rPr lang="en-US" dirty="0" err="1"/>
              <a:t>kiek</a:t>
            </a:r>
            <a:r>
              <a:rPr lang="en-US" dirty="0"/>
              <a:t> </a:t>
            </a:r>
            <a:r>
              <a:rPr lang="en-US" dirty="0" err="1"/>
              <a:t>mylių</a:t>
            </a:r>
            <a:r>
              <a:rPr lang="en-US" dirty="0"/>
              <a:t> </a:t>
            </a:r>
            <a:r>
              <a:rPr lang="en-US" dirty="0" err="1"/>
              <a:t>mašina</a:t>
            </a:r>
            <a:r>
              <a:rPr lang="en-US" dirty="0"/>
              <a:t> </a:t>
            </a:r>
            <a:r>
              <a:rPr lang="en-US" dirty="0" err="1"/>
              <a:t>nuvažiavusi</a:t>
            </a:r>
            <a:r>
              <a:rPr lang="en-US" dirty="0"/>
              <a:t>;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mpg – automobilio degalų sąnaudos;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transmission – pavarų dėžė (Automatic, Manual, Semi-Auto);</a:t>
            </a:r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fuelType – kuro tipas (Diesel, Petrol).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II </a:t>
            </a:r>
            <a:r>
              <a:rPr lang="en-US" b="1" dirty="0" err="1"/>
              <a:t>lygmuo</a:t>
            </a:r>
            <a:r>
              <a:rPr lang="en-US" b="1" dirty="0"/>
              <a:t> – </a:t>
            </a:r>
            <a:r>
              <a:rPr lang="en-US" b="1" dirty="0" err="1"/>
              <a:t>automobilio</a:t>
            </a:r>
            <a:r>
              <a:rPr lang="en-US" b="1" dirty="0"/>
              <a:t> </a:t>
            </a:r>
            <a:r>
              <a:rPr lang="en-US" b="1" dirty="0" err="1"/>
              <a:t>modelis</a:t>
            </a:r>
            <a:r>
              <a:rPr lang="en-US" b="1" dirty="0"/>
              <a:t> (</a:t>
            </a:r>
            <a:r>
              <a:rPr lang="en-US" i="1" dirty="0" err="1"/>
              <a:t>Kodėl</a:t>
            </a:r>
            <a:r>
              <a:rPr lang="en-US" i="1" dirty="0"/>
              <a:t> </a:t>
            </a:r>
            <a:r>
              <a:rPr lang="en-US" i="1" dirty="0" err="1"/>
              <a:t>vieni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apskritai</a:t>
            </a:r>
            <a:r>
              <a:rPr lang="en-US" i="1" dirty="0"/>
              <a:t> </a:t>
            </a:r>
            <a:r>
              <a:rPr lang="en-US" i="1" dirty="0" err="1"/>
              <a:t>kainuoja</a:t>
            </a:r>
            <a:r>
              <a:rPr lang="en-US" i="1" dirty="0"/>
              <a:t> </a:t>
            </a:r>
            <a:r>
              <a:rPr lang="en-US" i="1" dirty="0" err="1"/>
              <a:t>brangiau</a:t>
            </a:r>
            <a:r>
              <a:rPr lang="en-US" i="1" dirty="0"/>
              <a:t> </a:t>
            </a:r>
            <a:r>
              <a:rPr lang="en-US" i="1" dirty="0" err="1"/>
              <a:t>nei</a:t>
            </a:r>
            <a:r>
              <a:rPr lang="en-US" i="1" dirty="0"/>
              <a:t> </a:t>
            </a:r>
            <a:r>
              <a:rPr lang="en-US" i="1" dirty="0" err="1"/>
              <a:t>kiti</a:t>
            </a:r>
            <a:r>
              <a:rPr lang="en-US" i="1" dirty="0"/>
              <a:t>, </a:t>
            </a:r>
            <a:r>
              <a:rPr lang="en-US" i="1" dirty="0" err="1"/>
              <a:t>ir</a:t>
            </a:r>
            <a:r>
              <a:rPr lang="en-US" i="1" dirty="0"/>
              <a:t> </a:t>
            </a:r>
            <a:r>
              <a:rPr lang="en-US" i="1" dirty="0" err="1"/>
              <a:t>kodėl</a:t>
            </a:r>
            <a:r>
              <a:rPr lang="en-US" i="1" dirty="0"/>
              <a:t> kai </a:t>
            </a:r>
            <a:r>
              <a:rPr lang="en-US" i="1" dirty="0" err="1"/>
              <a:t>kurie</a:t>
            </a:r>
            <a:r>
              <a:rPr lang="en-US" i="1" dirty="0"/>
              <a:t> </a:t>
            </a:r>
            <a:r>
              <a:rPr lang="en-US" i="1" dirty="0" err="1"/>
              <a:t>modeliai</a:t>
            </a:r>
            <a:r>
              <a:rPr lang="en-US" i="1" dirty="0"/>
              <a:t> </a:t>
            </a:r>
            <a:r>
              <a:rPr lang="en-US" i="1" dirty="0" err="1"/>
              <a:t>nuvertėja</a:t>
            </a:r>
            <a:r>
              <a:rPr lang="en-US" i="1" dirty="0"/>
              <a:t> </a:t>
            </a:r>
            <a:r>
              <a:rPr lang="en-US" i="1" dirty="0" err="1"/>
              <a:t>greičiau</a:t>
            </a:r>
            <a:r>
              <a:rPr lang="en-US" b="1" dirty="0"/>
              <a:t>):</a:t>
            </a:r>
          </a:p>
          <a:p>
            <a:r>
              <a:rPr lang="en-US" dirty="0" err="1"/>
              <a:t>vid_variklis</a:t>
            </a:r>
            <a:r>
              <a:rPr lang="en-US" dirty="0"/>
              <a:t> – </a:t>
            </a:r>
            <a:r>
              <a:rPr lang="en-US" dirty="0" err="1"/>
              <a:t>modelio</a:t>
            </a:r>
            <a:r>
              <a:rPr lang="en-US" dirty="0"/>
              <a:t> </a:t>
            </a:r>
            <a:r>
              <a:rPr lang="en-US" dirty="0" err="1"/>
              <a:t>vidutinis</a:t>
            </a:r>
            <a:r>
              <a:rPr lang="en-US" dirty="0"/>
              <a:t> </a:t>
            </a:r>
            <a:r>
              <a:rPr lang="en-US" dirty="0" err="1"/>
              <a:t>variklio</a:t>
            </a:r>
            <a:r>
              <a:rPr lang="en-US" dirty="0"/>
              <a:t> </a:t>
            </a:r>
            <a:r>
              <a:rPr lang="en-US" dirty="0" err="1"/>
              <a:t>tūris</a:t>
            </a:r>
            <a:r>
              <a:rPr lang="en-US" dirty="0"/>
              <a:t> (</a:t>
            </a:r>
            <a:r>
              <a:rPr lang="en-US" dirty="0" err="1"/>
              <a:t>pvz</a:t>
            </a:r>
            <a:r>
              <a:rPr lang="en-US" dirty="0"/>
              <a:t>. </a:t>
            </a:r>
            <a:r>
              <a:rPr lang="en-US" dirty="0" err="1"/>
              <a:t>visiems</a:t>
            </a:r>
            <a:r>
              <a:rPr lang="en-US" dirty="0"/>
              <a:t> </a:t>
            </a:r>
            <a:r>
              <a:rPr lang="en-US" i="1" dirty="0"/>
              <a:t>Golf</a:t>
            </a:r>
            <a:r>
              <a:rPr lang="en-US" dirty="0"/>
              <a:t> </a:t>
            </a:r>
            <a:r>
              <a:rPr lang="en-US" dirty="0" err="1"/>
              <a:t>automobiliams</a:t>
            </a:r>
            <a:r>
              <a:rPr lang="en-US" dirty="0"/>
              <a:t> </a:t>
            </a:r>
            <a:r>
              <a:rPr lang="en-US" dirty="0" err="1"/>
              <a:t>ši</a:t>
            </a:r>
            <a:r>
              <a:rPr lang="en-US" dirty="0"/>
              <a:t> </a:t>
            </a:r>
            <a:r>
              <a:rPr lang="en-US" dirty="0" err="1"/>
              <a:t>reikšmė</a:t>
            </a:r>
            <a:r>
              <a:rPr lang="en-US" dirty="0"/>
              <a:t> bus </a:t>
            </a:r>
            <a:r>
              <a:rPr lang="en-US" dirty="0" err="1"/>
              <a:t>vienoda</a:t>
            </a:r>
            <a:r>
              <a:rPr lang="en-US" dirty="0"/>
              <a:t>).</a:t>
            </a:r>
          </a:p>
          <a:p>
            <a:pPr marL="285750" indent="-285750" algn="l">
              <a:spcAft>
                <a:spcPts val="800"/>
              </a:spcAft>
              <a:buChar char="•"/>
            </a:pPr>
            <a:endParaRPr sz="1700" b="0" i="0" dirty="0">
              <a:solidFill>
                <a:srgbClr val="3B3C3A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35152" y="580644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 dirty="0">
                <a:solidFill>
                  <a:schemeClr val="accent3">
                    <a:lumMod val="50000"/>
                  </a:schemeClr>
                </a:solidFill>
                <a:latin typeface="Arial"/>
              </a:rPr>
              <a:t>Po valymo: n = 14 864 automobiliai, 21 modelis. transmission ir fuelType – kategoriniai (nominalūs), kiti – intervaliniai.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Normalumo testas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3</a:t>
            </a:r>
          </a:p>
        </p:txBody>
      </p:sp>
      <p:pic>
        <p:nvPicPr>
          <p:cNvPr id="4" name="Picture 3" descr="Priklausomo kintamojo histogram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37360"/>
            <a:ext cx="6309360" cy="41416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8308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Priklausomo kintamojo histograma</a:t>
            </a:r>
          </a:p>
        </p:txBody>
      </p:sp>
      <p:pic>
        <p:nvPicPr>
          <p:cNvPr id="6" name="Picture 5" descr="o_shapir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286000"/>
            <a:ext cx="3840480" cy="11595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3611880"/>
            <a:ext cx="38404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Shapiro testas normalumą atmeta (p &lt; 0,05), tačiau W = 0,986 artimas 1, o histograma beveik simetriška – nukrypimas tik kairėje uodegoje.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Besąlyginis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4</a:t>
            </a:r>
          </a:p>
        </p:txBody>
      </p:sp>
      <p:pic>
        <p:nvPicPr>
          <p:cNvPr id="4" name="Picture 3" descr="e_m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4937760" cy="1201320"/>
          </a:xfrm>
          <a:prstGeom prst="rect">
            <a:avLst/>
          </a:prstGeom>
        </p:spPr>
      </p:pic>
      <p:pic>
        <p:nvPicPr>
          <p:cNvPr id="5" name="Picture 4" descr="o_m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91640"/>
            <a:ext cx="5166360" cy="2908986"/>
          </a:xfrm>
          <a:prstGeom prst="rect">
            <a:avLst/>
          </a:prstGeom>
        </p:spPr>
      </p:pic>
      <p:pic>
        <p:nvPicPr>
          <p:cNvPr id="6" name="Picture 5" descr="e_m0es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394960"/>
            <a:ext cx="7790688" cy="41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5</a:t>
            </a:r>
          </a:p>
        </p:txBody>
      </p:sp>
      <p:pic>
        <p:nvPicPr>
          <p:cNvPr id="4" name="Picture 3" descr="e_m0es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691640"/>
            <a:ext cx="6400800" cy="340574"/>
          </a:xfrm>
          <a:prstGeom prst="rect">
            <a:avLst/>
          </a:prstGeom>
        </p:spPr>
      </p:pic>
      <p:pic>
        <p:nvPicPr>
          <p:cNvPr id="5" name="Picture 4" descr="e_h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77440"/>
            <a:ext cx="1399032" cy="499871"/>
          </a:xfrm>
          <a:prstGeom prst="rect">
            <a:avLst/>
          </a:prstGeom>
        </p:spPr>
      </p:pic>
      <p:pic>
        <p:nvPicPr>
          <p:cNvPr id="6" name="Picture 5" descr="e_h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5808" y="2377440"/>
            <a:ext cx="1383792" cy="481583"/>
          </a:xfrm>
          <a:prstGeom prst="rect">
            <a:avLst/>
          </a:prstGeom>
        </p:spPr>
      </p:pic>
      <p:pic>
        <p:nvPicPr>
          <p:cNvPr id="7" name="Picture 6" descr="e_h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0368" y="2377440"/>
            <a:ext cx="1359408" cy="554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320040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Visos trys nulinės hipotezės yra atmetamos, daroma išvada, kad γ00 ≠ 0, τ00 &gt; 0, σ² &gt; 0.</a:t>
            </a:r>
          </a:p>
        </p:txBody>
      </p:sp>
      <p:pic>
        <p:nvPicPr>
          <p:cNvPr id="9" name="Picture 8" descr="e_ic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977639"/>
            <a:ext cx="6400800" cy="92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51206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7A003B"/>
                </a:solidFill>
                <a:latin typeface="Arial"/>
              </a:rPr>
              <a:t>Apie 65,4 % naudotų VW kainų priklauso nuo automobilio modelio.</a:t>
            </a:r>
          </a:p>
        </p:txBody>
      </p:sp>
      <p:pic>
        <p:nvPicPr>
          <p:cNvPr id="11" name="Picture 10" descr="o_m0in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691640"/>
            <a:ext cx="3703320" cy="162426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3407343"/>
            <a:ext cx="37033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97979"/>
                </a:solidFill>
                <a:latin typeface="Arial"/>
              </a:rPr>
              <a:t>intervals(model.0): standartinių nuokrypių PI neapima 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I lygmens kintamųjų koreliacijos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6</a:t>
            </a:r>
          </a:p>
        </p:txBody>
      </p:sp>
      <p:pic>
        <p:nvPicPr>
          <p:cNvPr id="4" name="Picture 3" descr="o_cor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28800"/>
            <a:ext cx="5029200" cy="1905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40233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Stipriausiai koreliuoja amžius ir rida (r = 0,763): senesni automobiliai daugiau nuvažiavę.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3B3C3A"/>
                </a:solidFill>
                <a:latin typeface="Arial"/>
              </a:rPr>
              <a:t>Koreliacija mažesnė už 0,8, todėl stipraus multikolinearumo nėra – abu kintamieji paliekami. mpg su kitais koreliuoja vidutiniškai (≈ 0,40).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Dviejų lygmenų modelis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8</a:t>
            </a:r>
          </a:p>
        </p:txBody>
      </p:sp>
      <p:pic>
        <p:nvPicPr>
          <p:cNvPr id="6" name="Picture 5" descr="o_m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6535972" cy="4572000"/>
          </a:xfrm>
          <a:prstGeom prst="rect">
            <a:avLst/>
          </a:prstGeom>
        </p:spPr>
      </p:pic>
      <p:pic>
        <p:nvPicPr>
          <p:cNvPr id="7" name="Picture 6" descr="e_m1e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7260" y="1783080"/>
            <a:ext cx="2670048" cy="38008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vid_variklis·amzius,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5029200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be sąveikos Akaikės indeksas: −16 554,14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3B3C3A"/>
                </a:solidFill>
                <a:latin typeface="Arial"/>
              </a:rPr>
              <a:t>Modelio su sąveika I Akaikės indeksas: −16 553,56  (L.Ratio = 1,42; p = 0,234)</a:t>
            </a:r>
          </a:p>
        </p:txBody>
      </p:sp>
      <p:pic>
        <p:nvPicPr>
          <p:cNvPr id="6" name="Picture 5" descr="o_m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691640"/>
            <a:ext cx="4384547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Modelis su sąveika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459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1 lygio (automobilio)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amzius, rida, mpg, transmission, fuelType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2 lygio (modelio)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854067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Fiksuoto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vid_variklis, amzius, rida, mpg, vid_variklis·mpg, Manual, SemiAuto, Petrol (pseudokintamieji; bazinės kategorijos – Automatic, Diesel)</a:t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3B3C3A"/>
                </a:solidFill>
                <a:latin typeface="Arial"/>
              </a:rPr>
              <a:t>Atsitiktinio poveikio kintamieji: </a:t>
            </a:r>
            <a:r>
              <a:rPr sz="1500" b="0" i="0">
                <a:solidFill>
                  <a:srgbClr val="3B3C3A"/>
                </a:solidFill>
                <a:latin typeface="Arial"/>
              </a:rPr>
              <a:t>amzius</a:t>
            </a:r>
          </a:p>
        </p:txBody>
      </p:sp>
      <p:pic>
        <p:nvPicPr>
          <p:cNvPr id="7" name="Picture 6" descr="e_m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31720"/>
            <a:ext cx="10607040" cy="224802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783080"/>
            <a:ext cx="324612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be sąveikos Akaikės indeksas: −16 554,14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3B3C3A"/>
                </a:solidFill>
                <a:latin typeface="Arial"/>
              </a:rPr>
              <a:t>Modelio su sąveika 2 Akaikės indeksas: −16 589,23</a:t>
            </a:r>
          </a:p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7A003B"/>
                </a:solidFill>
                <a:latin typeface="Arial"/>
              </a:rPr>
              <a:t>Sąveikos koeficientas reikšmingas (p &lt; 0,001); AIC sumažėjo 35 (&gt; 10), L.Ratio = 37,09, p &lt; 0,0001.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33872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3B3C3A"/>
                </a:solidFill>
                <a:latin typeface="Arial"/>
              </a:rPr>
              <a:t>Galutiniu modeliu renkamės modelį su sąveika 2.</a:t>
            </a:r>
          </a:p>
        </p:txBody>
      </p:sp>
      <p:pic>
        <p:nvPicPr>
          <p:cNvPr id="8" name="Picture 7" descr="o_m3m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691640"/>
            <a:ext cx="4384547" cy="3200400"/>
          </a:xfrm>
          <a:prstGeom prst="rect">
            <a:avLst/>
          </a:prstGeom>
        </p:spPr>
      </p:pic>
      <p:pic>
        <p:nvPicPr>
          <p:cNvPr id="9" name="Picture 8" descr="o_a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4983480"/>
            <a:ext cx="6855256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Galutinio modelio parametrų įverčiai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13</a:t>
            </a:r>
          </a:p>
        </p:txBody>
      </p:sp>
      <p:pic>
        <p:nvPicPr>
          <p:cNvPr id="8" name="Picture 7" descr="o_m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1691640"/>
            <a:ext cx="6263640" cy="4572000"/>
          </a:xfrm>
          <a:prstGeom prst="rect">
            <a:avLst/>
          </a:prstGeom>
        </p:spPr>
      </p:pic>
      <p:pic>
        <p:nvPicPr>
          <p:cNvPr id="9" name="Picture 8" descr="e_m3e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928" y="1737360"/>
            <a:ext cx="2670048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Jungtinė lygtis su įverčiais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90672"/>
            <a:ext cx="105156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Visi fiksuoto poveikio parametrai statistiškai reikšmingi (p &lt; 0,05).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Y = log(kaina), todėl poveikis procentais = (e^koef − 1)·100: kiekvieni metai −8,8 %, 1000 mylių ridos −0,45 %; mechaninė dėžė −10,5 %, Semi-Auto +1,3 % (palyginti su automatine), benzinas −7,8 % (palyginti su dyzeliu).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mpg poveikis priklauso nuo variklio: +1 mpg sumažina kainą ≈ 0,62 % (1 l), ≈ 0,96 % (2 l), ≈ 1,30 % (3 l).</a:t>
            </a:r>
          </a:p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Amžiaus nuolydžio st. nuokrypis 0,025 – modeliai nuvertėja nevienodai (Caravelle ≈ 5,4 %, Beetle ≈ 13,2 % per metus).</a:t>
            </a:r>
          </a:p>
        </p:txBody>
      </p:sp>
      <p:pic>
        <p:nvPicPr>
          <p:cNvPr id="6" name="Picture 5" descr="e_joi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10247376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Modelių palyginimas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6916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Lyginant su besąlyginiu modeliu 82,5 % sumažėjo modeliu nepaaiškintų kainų skirtumų: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000"/>
              </a:spcAft>
              <a:buChar char="•"/>
            </a:pPr>
            <a:r>
              <a:rPr sz="1600" b="0" i="0">
                <a:solidFill>
                  <a:srgbClr val="3B3C3A"/>
                </a:solidFill>
                <a:latin typeface="Arial"/>
              </a:rPr>
              <a:t>Akaikės indeksas statistiškai reikšmingai sumažėjo (25 793 vienetais, &gt; 10):</a:t>
            </a:r>
          </a:p>
        </p:txBody>
      </p:sp>
      <p:pic>
        <p:nvPicPr>
          <p:cNvPr id="10" name="Picture 9" descr="e_sigm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2194560"/>
            <a:ext cx="6121184" cy="1097279"/>
          </a:xfrm>
          <a:prstGeom prst="rect">
            <a:avLst/>
          </a:prstGeom>
        </p:spPr>
      </p:pic>
      <p:pic>
        <p:nvPicPr>
          <p:cNvPr id="11" name="Picture 10" descr="o_a3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4206240"/>
            <a:ext cx="8174736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53212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qqnorm(model.3, ~resid(.)) – visai panašu į normalumą, nukrypimai tik kairėje uodegoje. Liekanų sklaida apie 0 vienoda – homoskedastiškumas tenkinamas.</a:t>
            </a:r>
          </a:p>
        </p:txBody>
      </p:sp>
      <p:pic>
        <p:nvPicPr>
          <p:cNvPr id="7" name="Picture 6" descr="Liekanų q-q grafika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1737360"/>
            <a:ext cx="5074920" cy="3721608"/>
          </a:xfrm>
          <a:prstGeom prst="rect">
            <a:avLst/>
          </a:prstGeom>
        </p:spPr>
      </p:pic>
      <p:pic>
        <p:nvPicPr>
          <p:cNvPr id="8" name="Picture 7" descr="Liekanos prieš prognozuojamas reikšm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1928" y="1737360"/>
            <a:ext cx="5074920" cy="37216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Prielaidų tikrinimas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920240"/>
            <a:ext cx="292608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qqnorm(model.3, ~ranef(.))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3B3C3A"/>
                </a:solidFill>
                <a:latin typeface="Arial"/>
              </a:rPr>
              <a:t>Atsitiktinių efektų u0 ir u1 taškai išsidėstę apie tiesę – normalumas apytiksliai tenkinamas.</a:t>
            </a:r>
          </a:p>
        </p:txBody>
      </p:sp>
      <p:pic>
        <p:nvPicPr>
          <p:cNvPr id="6" name="Picture 5" descr="Atsitiktinių efektų q-q grafika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783080"/>
            <a:ext cx="7315200" cy="35763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Kas negerai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63550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797979"/>
                </a:solidFill>
                <a:latin typeface="Arial"/>
              </a:rPr>
              <a:t>K6 HLM · VW kainos ·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828800"/>
            <a:ext cx="105156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Modelis su sąveika I turėjo nereikšmingą sąveikos koeficientą (p = 0,234) – ši sąveika nereikalinga.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Didelėje imtyje (n = 14 864) statistiškai reikšmingi tampa ir maži efektai, todėl vertiname ir AIC pokytį bei koeficientų dydį.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Shapiro testas normalumą atmeta; liekanų kairėje uodegoje – keli itin pigūs skelbimai.</a:t>
            </a:r>
          </a:p>
          <a:p>
            <a:pPr marL="285750" indent="-285750" algn="l">
              <a:spcAft>
                <a:spcPts val="1400"/>
              </a:spcAft>
              <a:buChar char="•"/>
            </a:pPr>
            <a:r>
              <a:rPr sz="1800" b="0" i="0">
                <a:solidFill>
                  <a:srgbClr val="3B3C3A"/>
                </a:solidFill>
                <a:latin typeface="Arial"/>
              </a:rPr>
              <a:t>Kainos – skelbimų, ne sandorių; tirta tik viena markė (VW).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Lidija Puščiūtė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 err="1"/>
              <a:t>Darja Baranova</a:t>
            </a:r>
            <a:endParaRPr lang="en-US" sz="2000" dirty="0"/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2000" dirty="0"/>
              <a:t>Kodas ir duomenys: github.com/LidijaPu/K6</a:t>
            </a:r>
            <a:br>
              <a:rPr lang="en-US" sz="2000" dirty="0"/>
            </a:br>
            <a:endParaRPr lang="en-US" sz="2000" dirty="0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AČIŪ!</a:t>
            </a:r>
          </a:p>
        </p:txBody>
      </p:sp>
    </p:spTree>
    <p:extLst>
      <p:ext uri="{BB962C8B-B14F-4D97-AF65-F5344CB8AC3E}">
        <p14:creationId xmlns:p14="http://schemas.microsoft.com/office/powerpoint/2010/main" val="87890934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Custom Design">
  <a:themeElements>
    <a:clrScheme name="VU">
      <a:dk1>
        <a:srgbClr val="7A003B"/>
      </a:dk1>
      <a:lt1>
        <a:srgbClr val="FFFFFF"/>
      </a:lt1>
      <a:dk2>
        <a:srgbClr val="7A003B"/>
      </a:dk2>
      <a:lt2>
        <a:srgbClr val="FEFFFE"/>
      </a:lt2>
      <a:accent1>
        <a:srgbClr val="E03357"/>
      </a:accent1>
      <a:accent2>
        <a:srgbClr val="E2E3E2"/>
      </a:accent2>
      <a:accent3>
        <a:srgbClr val="3B3C3A"/>
      </a:accent3>
      <a:accent4>
        <a:srgbClr val="989998"/>
      </a:accent4>
      <a:accent5>
        <a:srgbClr val="D5D5D5"/>
      </a:accent5>
      <a:accent6>
        <a:srgbClr val="797979"/>
      </a:accent6>
      <a:hlink>
        <a:srgbClr val="E03357"/>
      </a:hlink>
      <a:folHlink>
        <a:srgbClr val="E2E3E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16855</TotalTime>
  <Words>913</Words>
  <Application>Microsoft Macintosh PowerPoint</Application>
  <PresentationFormat>Widescreen</PresentationFormat>
  <Paragraphs>89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GT Walsheim</vt:lpstr>
      <vt:lpstr>Custom Design</vt:lpstr>
      <vt:lpstr>1_Custom Design</vt:lpstr>
      <vt:lpstr>NAUDOTŲ VOLKSWAGEN KAINŲ PROGNOZĖ TAIKANT HLM</vt:lpstr>
      <vt:lpstr>Duomenys</vt:lpstr>
      <vt:lpstr>Normalumo testas</vt:lpstr>
      <vt:lpstr>Besąlyginis modelis</vt:lpstr>
      <vt:lpstr>ICC</vt:lpstr>
      <vt:lpstr>I lygmens kintamųjų koreliacijos</vt:lpstr>
      <vt:lpstr>Dviejų lygmenų modelis</vt:lpstr>
      <vt:lpstr>Parametrų įverčiai</vt:lpstr>
      <vt:lpstr>Modelis su sąveika I</vt:lpstr>
      <vt:lpstr>Modelių palyginimas</vt:lpstr>
      <vt:lpstr>Modelis su sąveika 2</vt:lpstr>
      <vt:lpstr>Modelių palyginimas</vt:lpstr>
      <vt:lpstr>Galutinio modelio parametrų įverčiai</vt:lpstr>
      <vt:lpstr>Jungtinė lygtis su įverčiais</vt:lpstr>
      <vt:lpstr>Modelių palyginimas</vt:lpstr>
      <vt:lpstr>Prielaidų tikrinimas</vt:lpstr>
      <vt:lpstr>Prielaidų tikrinimas</vt:lpstr>
      <vt:lpstr>Kas negerai</vt:lpstr>
      <vt:lpstr>AČIŪ!</vt:lpstr>
    </vt:vector>
  </TitlesOfParts>
  <Company>Vilniaus universitetas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Rokas Aleliūnas</dc:creator>
  <cp:lastModifiedBy>Darja Baranova</cp:lastModifiedBy>
  <cp:revision>98</cp:revision>
  <dcterms:created xsi:type="dcterms:W3CDTF">2017-06-28T06:49:28Z</dcterms:created>
  <dcterms:modified xsi:type="dcterms:W3CDTF">2026-10-29T14:06:05Z</dcterms:modified>
</cp:coreProperties>
</file>