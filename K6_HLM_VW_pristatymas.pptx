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314" r:id="rId39"/>
    <p:sldId id="315" r:id="rId40"/>
    <p:sldId id="316" r:id="rId41"/>
    <p:sldId id="317" r:id="rId42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69" autoAdjust="0"/>
    <p:restoredTop sz="95673"/>
  </p:normalViewPr>
  <p:slideViewPr>
    <p:cSldViewPr snapToGrid="0">
      <p:cViewPr varScale="1">
        <p:scale>
          <a:sx n="106" d="100"/>
          <a:sy n="106" d="100"/>
        </p:scale>
        <p:origin x="648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lvl="0"/>
            <a:endParaRPr lang="lt-LT" dirty="0" smtClean="0"/>
          </a:p>
          <a:p>
            <a:pPr lvl="0"/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title</a:t>
            </a:r>
            <a:r>
              <a:rPr lang="lt-LT" dirty="0" smtClean="0"/>
              <a:t> </a:t>
            </a:r>
            <a:r>
              <a:rPr lang="lt-LT" dirty="0" err="1" smtClean="0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 smtClean="0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PAVADINIMAS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lvl="0"/>
            <a:endParaRPr lang="lt-LT" dirty="0" smtClean="0"/>
          </a:p>
          <a:p>
            <a:pPr lvl="0"/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title</a:t>
            </a:r>
            <a:r>
              <a:rPr lang="lt-LT" dirty="0" smtClean="0"/>
              <a:t> </a:t>
            </a:r>
            <a:r>
              <a:rPr lang="lt-LT" dirty="0" err="1" smtClean="0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 smtClean="0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PAVADINIMAS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theme" Target="../theme/theme2.xml"/><Relationship Id="rId25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 smtClean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 smtClean="0"/>
              <a:t>Lidija Puščiūtė</a:t>
            </a:r>
            <a:endParaRPr lang="en-US" sz="2000" dirty="0" smtClean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 smtClean="0"/>
              <a:t>Darja Baranova</a:t>
            </a:r>
            <a:endParaRPr lang="en-US" sz="2000" dirty="0" smtClean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smtClean="0"/>
              <a:t>Kodas ir duomenys: github.com/LidijaPu/K6</a:t>
            </a:r>
            <a:br>
              <a:rPr lang="en-US" sz="2000" dirty="0" smtClean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AČIŪ!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Duomenų rinkinys „100,000 UK Used Car Data set“ (Kaggle, failas vw.csv) – naudotų Volkswagen automobilių pardavimo skelbimai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06040"/>
            <a:ext cx="10515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model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automobilio modelis (II lygmuo, 21 modelis);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price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kaina svarais; modelyje lkaina = log(price);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amzius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automobilio amžius metais (2020 − year);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rida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rida, tūkst. mylių;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mpg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mylios vienam galonui (sąnaudos);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vid_variklis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modelio vidutinis variklio tūris, l (II lygmens kintamasis).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32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797979"/>
                </a:solidFill>
                <a:latin typeface="Arial"/>
              </a:rPr>
              <a:t>Po valymo: n = 14 864 automobiliai, 21 modelis. Visi kintamieji, išskyrus model, intervaliniai.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Priklausomo kintamojo histogr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309360" cy="4141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83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Priklausomo kintamojo histograma</a:t>
            </a:r>
          </a:p>
        </p:txBody>
      </p:sp>
      <p:pic>
        <p:nvPicPr>
          <p:cNvPr id="6" name="Picture 5" descr="o_shapi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286000"/>
            <a:ext cx="3840480" cy="1159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361188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Shapiro testas normalumą atmeta (p &lt; 0,05), tačiau W = 0,986 artimas 1, o histograma beveik simetriška – nukrypimas tik kairėje uodegoje.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4" name="Picture 3" descr="e_m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4937760" cy="1201320"/>
          </a:xfrm>
          <a:prstGeom prst="rect">
            <a:avLst/>
          </a:prstGeom>
        </p:spPr>
      </p:pic>
      <p:pic>
        <p:nvPicPr>
          <p:cNvPr id="5" name="Picture 4" descr="o_m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166360" cy="2908986"/>
          </a:xfrm>
          <a:prstGeom prst="rect">
            <a:avLst/>
          </a:prstGeom>
        </p:spPr>
      </p:pic>
      <p:pic>
        <p:nvPicPr>
          <p:cNvPr id="6" name="Picture 5" descr="e_m0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4" name="Picture 3" descr="e_m0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400800" cy="340574"/>
          </a:xfrm>
          <a:prstGeom prst="rect">
            <a:avLst/>
          </a:prstGeom>
        </p:spPr>
      </p:pic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Visos trys nulinės hipotezės yra atmetamos, daroma išvada, kad γ00 ≠ 0,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472928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4" name="Picture 3" descr="o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132320" cy="4489769"/>
          </a:xfrm>
          <a:prstGeom prst="rect">
            <a:avLst/>
          </a:prstGeom>
        </p:spPr>
      </p:pic>
      <p:pic>
        <p:nvPicPr>
          <p:cNvPr id="5" name="Picture 4" descr="e_m1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977896" cy="375818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1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vid_variklis·amzius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pic>
        <p:nvPicPr>
          <p:cNvPr id="4" name="Picture 3" descr="o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200899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525780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su sąveika I Akaikės indeksas: −14 125,61  (L.Ratio = 2,04; p = 0,153)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92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pic>
        <p:nvPicPr>
          <p:cNvPr id="4" name="Picture 3" descr="o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119530" cy="3017520"/>
          </a:xfrm>
          <a:prstGeom prst="rect">
            <a:avLst/>
          </a:prstGeom>
        </p:spPr>
      </p:pic>
      <p:pic>
        <p:nvPicPr>
          <p:cNvPr id="5" name="Picture 4" descr="o_anova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892040"/>
            <a:ext cx="7258507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−14 135,11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Sąveikos koeficientas reikšmingas (p &lt; 0,001); modeliai statistiškai reikšmingai skiriasi (p = 0,0007), mažesni ir AIC, ir BIC.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Galutiniu modeliu renkamės modelį su sąveika 2 (AIC pokytis kuklus – 9,6).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Galutinio modelio 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pic>
        <p:nvPicPr>
          <p:cNvPr id="4" name="Picture 3" descr="o_m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315200" cy="3607100"/>
          </a:xfrm>
          <a:prstGeom prst="rect">
            <a:avLst/>
          </a:prstGeom>
        </p:spPr>
      </p:pic>
      <p:pic>
        <p:nvPicPr>
          <p:cNvPr id="5" name="Picture 4" descr="e_m4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737360"/>
            <a:ext cx="2788920" cy="375662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14</a:t>
            </a:r>
          </a:p>
        </p:txBody>
      </p:sp>
      <p:pic>
        <p:nvPicPr>
          <p:cNvPr id="4" name="Picture 3" descr="e_joint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10515600" cy="7216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733338"/>
            <a:ext cx="105156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−9,5 %, 1000 mylių ridos −0,45 %.</a:t>
            </a:r>
          </a:p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mpg poveikis priklauso nuo variklio: +1 mpg sumažina kainą ≈ 0,66 % (1 l), ≈ 0,87 % (2 l), ≈ 1,07 % (3 l).</a:t>
            </a:r>
          </a:p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0,021 – modeliai nuvertėja nevienodai (Caravelle ≈ 5,9 %, Beetle ≈ 13,3 % per metus).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79,3 % sumažėjo modeliu nepaaiškintų kainų skirtumų:</a:t>
            </a:r>
          </a:p>
        </p:txBody>
      </p:sp>
      <p:pic>
        <p:nvPicPr>
          <p:cNvPr id="5" name="Picture 4" descr="e_sigma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94560"/>
            <a:ext cx="612119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statistiškai reikšmingai sumažėjo (23 339 vienetais, &gt; 10):</a:t>
            </a:r>
          </a:p>
        </p:txBody>
      </p:sp>
      <p:pic>
        <p:nvPicPr>
          <p:cNvPr id="7" name="Picture 6" descr="o_anova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206240"/>
            <a:ext cx="8174736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16</a:t>
            </a:r>
          </a:p>
        </p:txBody>
      </p:sp>
      <p:pic>
        <p:nvPicPr>
          <p:cNvPr id="4" name="Picture 3" descr="Liekanų q-q grafik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5074920" cy="3721608"/>
          </a:xfrm>
          <a:prstGeom prst="rect">
            <a:avLst/>
          </a:prstGeom>
        </p:spPr>
      </p:pic>
      <p:pic>
        <p:nvPicPr>
          <p:cNvPr id="5" name="Picture 4" descr="Liekanos prieš prognozuojamas reikšm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37360"/>
            <a:ext cx="5074920" cy="3721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532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qqnorm(model.4reml, ~resid(.)) – visai panašu į normalumą, nukrypimai tik kairėje uodegoje. Liekanų sklaida apie 0 vienoda – homoskedastiškumas tenkinamas.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17</a:t>
            </a:r>
          </a:p>
        </p:txBody>
      </p:sp>
      <p:pic>
        <p:nvPicPr>
          <p:cNvPr id="4" name="Picture 3" descr="Atsitiktinių efektų q-q grafika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7315200" cy="357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920240"/>
            <a:ext cx="292608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qqnorm(model.4reml, ~ranef(.))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Atsitiktinių efektų u0 ir u1 taškai išsidėstę apie tiesę – normalumas apytiksliai tenkinamas.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Kas negerai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Modelis su sąveika I turėjo nereikšmingą sąveikos koeficientą (p = 0,140) – ši sąveika nereikalinga.</a:t>
            </a:r>
          </a:p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Galutinio modelio su sąveika 2 AIC pokytis, palyginti su modeliu be sąveikos, kuklus (9,6 &lt; 10); didelėje imtyje reikšmingi tampa ir maži efektai.</a:t>
            </a:r>
          </a:p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Shapiro testas normalumą atmeta; liekanų kairėje uodegoje – keli itin pigūs skelbimai.</a:t>
            </a:r>
          </a:p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Kainos – skelbimų, ne sandorių; tirta tik viena markė (VW).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12177</TotalTime>
  <Words>40</Words>
  <Application>Microsoft Office PowerPoint</Application>
  <PresentationFormat>Plačiaekranė</PresentationFormat>
  <Paragraphs>22</Paragraphs>
  <Slides>19</Slides>
  <Notes>0</Notes>
  <HiddenSlides>0</HiddenSlides>
  <MMClips>0</MMClips>
  <ScaleCrop>false</ScaleCrop>
  <HeadingPairs>
    <vt:vector size="6" baseType="variant">
      <vt:variant>
        <vt:lpstr>Naudojami šriftai</vt:lpstr>
      </vt:variant>
      <vt:variant>
        <vt:i4>2</vt:i4>
      </vt:variant>
      <vt:variant>
        <vt:lpstr>Tema</vt:lpstr>
      </vt:variant>
      <vt:variant>
        <vt:i4>2</vt:i4>
      </vt:variant>
      <vt:variant>
        <vt:lpstr>Skaidrių pavadinimai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PRISTATYMO PAVADINIMAS</vt:lpstr>
      <vt:lpstr>TURINYS</vt:lpstr>
      <vt:lpstr>„PowerPoint“ pateiktis</vt:lpstr>
      <vt:lpstr>„PowerPoint“ pateiktis</vt:lpstr>
      <vt:lpstr>„PowerPoint“ pateiktis</vt:lpstr>
      <vt:lpstr>SKYRIAUS PAVADINIMAS</vt:lpstr>
      <vt:lpstr>SKYRIAUS PAVADINIMAS</vt:lpstr>
      <vt:lpstr>SKYRIAUS PAVADINIMAS</vt:lpstr>
      <vt:lpstr>„PowerPoint“ pateiktis</vt:lpstr>
      <vt:lpstr>„PowerPoint“ pateiktis</vt:lpstr>
      <vt:lpstr>„PowerPoint“ pateiktis</vt:lpstr>
      <vt:lpstr>„PowerPoint“ pateiktis</vt:lpstr>
      <vt:lpstr>„PowerPoint“ pateiktis</vt:lpstr>
      <vt:lpstr>„PowerPoint“ pateiktis</vt:lpstr>
      <vt:lpstr>Lentelės</vt:lpstr>
      <vt:lpstr>Lentelės II </vt:lpstr>
      <vt:lpstr>Lentelės III </vt:lpstr>
      <vt:lpstr>„PowerPoint“ pateiktis</vt:lpstr>
      <vt:lpstr>KONTAKTAI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Giedrė Gintautaitė</cp:lastModifiedBy>
  <cp:revision>97</cp:revision>
  <dcterms:created xsi:type="dcterms:W3CDTF">2017-06-28T06:49:28Z</dcterms:created>
  <dcterms:modified xsi:type="dcterms:W3CDTF">2017-09-27T06:55:47Z</dcterms:modified>
</cp:coreProperties>
</file>