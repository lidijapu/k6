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710" r:id="rId2"/>
  </p:sldMasterIdLst>
  <p:sldIdLst>
    <p:sldId id="256" r:id="rId3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290" r:id="rId21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9" autoAdjust="0"/>
    <p:restoredTop sz="95673"/>
  </p:normalViewPr>
  <p:slideViewPr>
    <p:cSldViewPr snapToGrid="0">
      <p:cViewPr varScale="1">
        <p:scale>
          <a:sx n="106" d="100"/>
          <a:sy n="106" d="100"/>
        </p:scale>
        <p:origin x="648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5300" y="4043088"/>
            <a:ext cx="8560955" cy="23050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9016" y="459481"/>
            <a:ext cx="3647137" cy="1365515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9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7" y="3102776"/>
            <a:ext cx="5396345" cy="3481198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946098" y="2667741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9016" y="459481"/>
            <a:ext cx="3647137" cy="136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4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8" y="3338945"/>
            <a:ext cx="5396345" cy="3186462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096000" y="2869785"/>
            <a:ext cx="1410475" cy="134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6736" y="586110"/>
            <a:ext cx="2970720" cy="1112258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4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405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4725" y="1889760"/>
            <a:ext cx="5483860" cy="8331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55360" y="3024493"/>
            <a:ext cx="5483225" cy="334551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lvl1pPr>
          </a:lstStyle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lvl="0"/>
            <a:endParaRPr lang="lt-LT" dirty="0" smtClean="0"/>
          </a:p>
          <a:p>
            <a:pPr lvl="0"/>
            <a:endParaRPr lang="lt-LT" dirty="0" smtClean="0"/>
          </a:p>
        </p:txBody>
      </p:sp>
    </p:spTree>
    <p:extLst>
      <p:ext uri="{BB962C8B-B14F-4D97-AF65-F5344CB8AC3E}">
        <p14:creationId xmlns:p14="http://schemas.microsoft.com/office/powerpoint/2010/main" val="1167221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6842"/>
            <a:ext cx="9053945" cy="1126868"/>
          </a:xfrm>
        </p:spPr>
        <p:txBody>
          <a:bodyPr/>
          <a:lstStyle/>
          <a:p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title</a:t>
            </a:r>
            <a:r>
              <a:rPr lang="lt-LT" dirty="0" smtClean="0"/>
              <a:t> </a:t>
            </a:r>
            <a:r>
              <a:rPr lang="lt-LT" dirty="0" err="1" smtClean="0"/>
              <a:t>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2512405"/>
            <a:ext cx="9053945" cy="3597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</p:spTree>
    <p:extLst>
      <p:ext uri="{BB962C8B-B14F-4D97-AF65-F5344CB8AC3E}">
        <p14:creationId xmlns:p14="http://schemas.microsoft.com/office/powerpoint/2010/main" val="1191197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ėli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91" y="1392063"/>
            <a:ext cx="6796209" cy="1216922"/>
          </a:xfrm>
        </p:spPr>
        <p:txBody>
          <a:bodyPr anchor="b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76568" y="2909455"/>
            <a:ext cx="6796088" cy="317889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7938"/>
            <a:ext cx="3035300" cy="6842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1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3004" y="587486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3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943144" y="4727407"/>
            <a:ext cx="1943100" cy="1765468"/>
          </a:xfrm>
          <a:noFill/>
          <a:ln>
            <a:noFill/>
          </a:ln>
        </p:spPr>
        <p:txBody>
          <a:bodyPr anchor="b">
            <a:normAutofit/>
          </a:bodyPr>
          <a:lstStyle>
            <a:lvl1pPr algn="r">
              <a:defRPr sz="9600" b="1">
                <a:solidFill>
                  <a:schemeClr val="tx1"/>
                </a:solidFill>
                <a:latin typeface="GT Walsheim" charset="0"/>
                <a:ea typeface="GT Walsheim" charset="0"/>
                <a:cs typeface="GT Walsheim" charset="0"/>
              </a:defRPr>
            </a:lvl1pPr>
          </a:lstStyle>
          <a:p>
            <a:pPr lvl="0"/>
            <a:r>
              <a:rPr lang="en-US" smtClean="0"/>
              <a:t>1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52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kstas ir paveikslėli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17136" y="0"/>
            <a:ext cx="767486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14510"/>
            <a:ext cx="3576408" cy="1405621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35864" y="3267940"/>
            <a:ext cx="3576408" cy="31444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235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56227" y="755793"/>
            <a:ext cx="5332846" cy="37615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90277" y="2636548"/>
            <a:ext cx="4918075" cy="357461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4113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0" y="2093595"/>
            <a:ext cx="8318500" cy="270700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0353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04275" y="172449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409039" y="5038690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7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lis ir 3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38201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499264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160327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66192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430220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7963267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14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ys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1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499264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60327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64630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28658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947645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3271520" cy="85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1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un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00446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79177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100446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13" name="Rectangle 12"/>
          <p:cNvSpPr/>
          <p:nvPr userDrawn="1"/>
        </p:nvSpPr>
        <p:spPr>
          <a:xfrm>
            <a:off x="79177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88975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15" name="Rectangle 14"/>
          <p:cNvSpPr/>
          <p:nvPr userDrawn="1"/>
        </p:nvSpPr>
        <p:spPr>
          <a:xfrm>
            <a:off x="667706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88975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17" name="Rectangle 16"/>
          <p:cNvSpPr/>
          <p:nvPr userDrawn="1"/>
        </p:nvSpPr>
        <p:spPr>
          <a:xfrm>
            <a:off x="667706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20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5010150" cy="3956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6172511" y="2156460"/>
            <a:ext cx="5010150" cy="3956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6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9561513" cy="40195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800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ktū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smtClean="0"/>
              <a:t>Click to edit Master title style</a:t>
            </a:r>
            <a:endParaRPr lang="en-US"/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838200" y="2041525"/>
            <a:ext cx="8929255" cy="42211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21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smtClean="0"/>
              <a:t>Click to edit Master title style</a:t>
            </a:r>
            <a:endParaRPr lang="en-US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838200" y="2041525"/>
            <a:ext cx="8929688" cy="41100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74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2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ų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47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šraus turinio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423660" y="320041"/>
            <a:ext cx="5394960" cy="169164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7228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6455" y="599440"/>
            <a:ext cx="3103721" cy="1162056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389255" y="4279271"/>
            <a:ext cx="5394325" cy="203390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389255" y="3221287"/>
            <a:ext cx="5396345" cy="83312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 smtClean="0"/>
              <a:t>PAVADINIMAS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5849598" y="2855328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0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449990"/>
            <a:ext cx="3672482" cy="13750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35300" y="4043088"/>
            <a:ext cx="8560955" cy="2305050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21776" y="3493564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466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449990"/>
            <a:ext cx="3672482" cy="137500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7" y="3102776"/>
            <a:ext cx="5396345" cy="3481198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946098" y="2667741"/>
            <a:ext cx="1754297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470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ulinė skaidrė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96736" y="586111"/>
            <a:ext cx="2967867" cy="1111192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458528" y="3338945"/>
            <a:ext cx="5396345" cy="3186462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096000" y="2869785"/>
            <a:ext cx="1410475" cy="134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58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405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54725" y="1889760"/>
            <a:ext cx="5483860" cy="8331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055360" y="3024493"/>
            <a:ext cx="5483225" cy="3345510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lvl1pPr>
          </a:lstStyle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8000"/>
              <a:buFont typeface="+mj-lt"/>
              <a:buAutoNum type="arabicPeriod"/>
              <a:tabLst/>
              <a:defRPr/>
            </a:pPr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  <a:p>
            <a:pPr lvl="0"/>
            <a:endParaRPr lang="lt-LT" dirty="0" smtClean="0"/>
          </a:p>
          <a:p>
            <a:pPr lvl="0"/>
            <a:endParaRPr lang="lt-LT" dirty="0" smtClean="0"/>
          </a:p>
        </p:txBody>
      </p:sp>
    </p:spTree>
    <p:extLst>
      <p:ext uri="{BB962C8B-B14F-4D97-AF65-F5344CB8AC3E}">
        <p14:creationId xmlns:p14="http://schemas.microsoft.com/office/powerpoint/2010/main" val="20881847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6842"/>
            <a:ext cx="9053945" cy="1126868"/>
          </a:xfrm>
        </p:spPr>
        <p:txBody>
          <a:bodyPr/>
          <a:lstStyle/>
          <a:p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title</a:t>
            </a:r>
            <a:r>
              <a:rPr lang="lt-LT" dirty="0" smtClean="0"/>
              <a:t> </a:t>
            </a:r>
            <a:r>
              <a:rPr lang="lt-LT" dirty="0" err="1" smtClean="0"/>
              <a:t>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38200" y="2512405"/>
            <a:ext cx="9053945" cy="3597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</p:spTree>
    <p:extLst>
      <p:ext uri="{BB962C8B-B14F-4D97-AF65-F5344CB8AC3E}">
        <p14:creationId xmlns:p14="http://schemas.microsoft.com/office/powerpoint/2010/main" val="93349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ėli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6591" y="1392063"/>
            <a:ext cx="6796209" cy="1216922"/>
          </a:xfrm>
        </p:spPr>
        <p:txBody>
          <a:bodyPr anchor="b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176568" y="2909455"/>
            <a:ext cx="6796088" cy="317889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7938"/>
            <a:ext cx="3035300" cy="6842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08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3004" y="589391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182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9943144" y="4727407"/>
            <a:ext cx="1943100" cy="1765468"/>
          </a:xfrm>
          <a:noFill/>
          <a:ln>
            <a:noFill/>
          </a:ln>
        </p:spPr>
        <p:txBody>
          <a:bodyPr anchor="b">
            <a:normAutofit/>
          </a:bodyPr>
          <a:lstStyle>
            <a:lvl1pPr algn="r">
              <a:defRPr sz="9600" b="1">
                <a:solidFill>
                  <a:schemeClr val="tx1"/>
                </a:solidFill>
                <a:latin typeface="GT Walsheim" charset="0"/>
                <a:ea typeface="GT Walsheim" charset="0"/>
                <a:cs typeface="GT Walsheim" charset="0"/>
              </a:defRPr>
            </a:lvl1pPr>
          </a:lstStyle>
          <a:p>
            <a:pPr lvl="0"/>
            <a:r>
              <a:rPr lang="en-US" smtClean="0"/>
              <a:t>1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089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yriaus pavadinima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05870" y="1003148"/>
            <a:ext cx="5031696" cy="365760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76213" y="57336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0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kstas ir paveikslėli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17136" y="0"/>
            <a:ext cx="7674864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14510"/>
            <a:ext cx="3576408" cy="1405621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35864" y="3267940"/>
            <a:ext cx="3576408" cy="31444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50508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56227" y="755793"/>
            <a:ext cx="5332846" cy="376150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490277" y="2636548"/>
            <a:ext cx="4918075" cy="357461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63053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6750" y="2093595"/>
            <a:ext cx="8318500" cy="270700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03530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104275" y="1724494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409039" y="5038690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59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veiksllis ir 3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838201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499264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160327" y="3075709"/>
            <a:ext cx="3193472" cy="3075854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66192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4302204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7963267" y="277309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14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ys stulpel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1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499264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60327" y="1773528"/>
            <a:ext cx="3193472" cy="4323629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64630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4286582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7947645" y="1470919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3271520" cy="85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7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un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00446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79177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100446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13" name="Rectangle 12"/>
          <p:cNvSpPr/>
          <p:nvPr userDrawn="1"/>
        </p:nvSpPr>
        <p:spPr>
          <a:xfrm>
            <a:off x="79177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889750" y="1907453"/>
            <a:ext cx="4396739" cy="1740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15" name="Rectangle 14"/>
          <p:cNvSpPr/>
          <p:nvPr userDrawn="1"/>
        </p:nvSpPr>
        <p:spPr>
          <a:xfrm>
            <a:off x="6677068" y="160484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889750" y="4284893"/>
            <a:ext cx="4396739" cy="1740450"/>
          </a:xfrm>
        </p:spPr>
        <p:txBody>
          <a:bodyPr/>
          <a:lstStyle/>
          <a:p>
            <a:pPr lvl="0"/>
            <a:r>
              <a:rPr lang="lt-LT" dirty="0" err="1" smtClean="0"/>
              <a:t>Click</a:t>
            </a:r>
            <a:r>
              <a:rPr lang="lt-LT" dirty="0" smtClean="0"/>
              <a:t> to </a:t>
            </a:r>
            <a:r>
              <a:rPr lang="lt-LT" dirty="0" err="1" smtClean="0"/>
              <a:t>edit</a:t>
            </a:r>
            <a:r>
              <a:rPr lang="lt-LT" dirty="0" smtClean="0"/>
              <a:t> </a:t>
            </a:r>
            <a:r>
              <a:rPr lang="lt-LT" dirty="0" err="1" smtClean="0"/>
              <a:t>Master</a:t>
            </a:r>
            <a:r>
              <a:rPr lang="lt-LT" dirty="0" smtClean="0"/>
              <a:t> </a:t>
            </a:r>
            <a:r>
              <a:rPr lang="lt-LT" dirty="0" err="1" smtClean="0"/>
              <a:t>text</a:t>
            </a:r>
            <a:r>
              <a:rPr lang="lt-LT" dirty="0" smtClean="0"/>
              <a:t> </a:t>
            </a:r>
            <a:r>
              <a:rPr lang="lt-LT" dirty="0" err="1" smtClean="0"/>
              <a:t>styles</a:t>
            </a:r>
            <a:endParaRPr lang="lt-LT" dirty="0" smtClean="0"/>
          </a:p>
        </p:txBody>
      </p:sp>
      <p:sp>
        <p:nvSpPr>
          <p:cNvPr id="17" name="Rectangle 16"/>
          <p:cNvSpPr/>
          <p:nvPr userDrawn="1"/>
        </p:nvSpPr>
        <p:spPr>
          <a:xfrm>
            <a:off x="6677068" y="3982283"/>
            <a:ext cx="425364" cy="1155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791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5010150" cy="395605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6172511" y="2156460"/>
            <a:ext cx="5010150" cy="3956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06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838200" y="2156460"/>
            <a:ext cx="9561513" cy="40195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26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uktū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smtClean="0"/>
              <a:t>Click to edit Master title style</a:t>
            </a:r>
            <a:endParaRPr lang="en-US"/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0"/>
          </p:nvPr>
        </p:nvSpPr>
        <p:spPr>
          <a:xfrm>
            <a:off x="838200" y="2041525"/>
            <a:ext cx="8929255" cy="42211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513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smtClean="0"/>
              <a:t>Click to edit Master title style</a:t>
            </a:r>
            <a:endParaRPr lang="en-US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0"/>
          </p:nvPr>
        </p:nvSpPr>
        <p:spPr>
          <a:xfrm>
            <a:off x="838200" y="2041525"/>
            <a:ext cx="8929688" cy="41100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536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52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veikslėlių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22764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582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šraus turinio koliaž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00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096000" y="2276475"/>
            <a:ext cx="6096000" cy="45735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423660" y="320041"/>
            <a:ext cx="5394960" cy="169164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8579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671" y="594653"/>
            <a:ext cx="3116505" cy="1166843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389255" y="4279271"/>
            <a:ext cx="5394325" cy="203390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389255" y="3221287"/>
            <a:ext cx="5396345" cy="83312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 smtClean="0"/>
              <a:t>PAVADINIMAS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5849598" y="2855328"/>
            <a:ext cx="1692421" cy="1410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402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46.xml"/><Relationship Id="rId24" Type="http://schemas.openxmlformats.org/officeDocument/2006/relationships/theme" Target="../theme/theme2.xml"/><Relationship Id="rId25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5787"/>
            <a:ext cx="892925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76475"/>
            <a:ext cx="8929255" cy="3148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770747" y="6356350"/>
            <a:ext cx="3714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t-LT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GT Walsheim" charset="0"/>
                <a:ea typeface="GT Walsheim" charset="0"/>
                <a:cs typeface="GT Walsheim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63004" y="521818"/>
            <a:ext cx="1447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2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6" r:id="rId2"/>
    <p:sldLayoutId id="2147483678" r:id="rId3"/>
    <p:sldLayoutId id="2147483683" r:id="rId4"/>
    <p:sldLayoutId id="2147483709" r:id="rId5"/>
    <p:sldLayoutId id="2147483654" r:id="rId6"/>
    <p:sldLayoutId id="2147483655" r:id="rId7"/>
    <p:sldLayoutId id="2147483680" r:id="rId8"/>
    <p:sldLayoutId id="2147483677" r:id="rId9"/>
    <p:sldLayoutId id="2147483656" r:id="rId10"/>
    <p:sldLayoutId id="2147483658" r:id="rId11"/>
    <p:sldLayoutId id="2147483684" r:id="rId12"/>
    <p:sldLayoutId id="2147483679" r:id="rId13"/>
    <p:sldLayoutId id="2147483685" r:id="rId14"/>
    <p:sldLayoutId id="2147483686" r:id="rId15"/>
    <p:sldLayoutId id="2147483730" r:id="rId16"/>
    <p:sldLayoutId id="2147483731" r:id="rId17"/>
    <p:sldLayoutId id="2147483734" r:id="rId18"/>
    <p:sldLayoutId id="2147483735" r:id="rId19"/>
    <p:sldLayoutId id="2147483659" r:id="rId20"/>
    <p:sldLayoutId id="2147483687" r:id="rId21"/>
    <p:sldLayoutId id="2147483688" r:id="rId22"/>
    <p:sldLayoutId id="214748368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5768" userDrawn="1">
          <p15:clr>
            <a:srgbClr val="F26B43"/>
          </p15:clr>
        </p15:guide>
        <p15:guide id="4" pos="1912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orient="horz" pos="1434" userDrawn="1">
          <p15:clr>
            <a:srgbClr val="F26B43"/>
          </p15:clr>
        </p15:guide>
        <p15:guide id="8" orient="horz" pos="2886" userDrawn="1">
          <p15:clr>
            <a:srgbClr val="F26B43"/>
          </p15:clr>
        </p15:guide>
        <p15:guide id="9" orient="horz" pos="431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63004" y="521818"/>
            <a:ext cx="1447800" cy="444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15787"/>
            <a:ext cx="892925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76475"/>
            <a:ext cx="8929255" cy="3148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770747" y="6356350"/>
            <a:ext cx="37143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t-LT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GT Walsheim" charset="0"/>
                <a:ea typeface="GT Walsheim" charset="0"/>
                <a:cs typeface="GT Walsheim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81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32" r:id="rId16"/>
    <p:sldLayoutId id="2147483733" r:id="rId17"/>
    <p:sldLayoutId id="2147483736" r:id="rId18"/>
    <p:sldLayoutId id="2147483737" r:id="rId19"/>
    <p:sldLayoutId id="2147483726" r:id="rId20"/>
    <p:sldLayoutId id="2147483727" r:id="rId21"/>
    <p:sldLayoutId id="2147483728" r:id="rId22"/>
    <p:sldLayoutId id="2147483729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600" kern="1200">
          <a:solidFill>
            <a:schemeClr val="bg1">
              <a:lumMod val="50000"/>
            </a:schemeClr>
          </a:solidFill>
          <a:latin typeface="GT Walsheim" charset="0"/>
          <a:ea typeface="GT Walsheim" charset="0"/>
          <a:cs typeface="GT Walsheim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">
          <p15:clr>
            <a:srgbClr val="F26B43"/>
          </p15:clr>
        </p15:guide>
        <p15:guide id="2">
          <p15:clr>
            <a:srgbClr val="F26B43"/>
          </p15:clr>
        </p15:guide>
        <p15:guide id="3" pos="5768">
          <p15:clr>
            <a:srgbClr val="F26B43"/>
          </p15:clr>
        </p15:guide>
        <p15:guide id="4" pos="1912">
          <p15:clr>
            <a:srgbClr val="F26B43"/>
          </p15:clr>
        </p15:guide>
        <p15:guide id="5" pos="3840">
          <p15:clr>
            <a:srgbClr val="F26B43"/>
          </p15:clr>
        </p15:guide>
        <p15:guide id="6" pos="7680">
          <p15:clr>
            <a:srgbClr val="F26B43"/>
          </p15:clr>
        </p15:guide>
        <p15:guide id="7" orient="horz" pos="1434">
          <p15:clr>
            <a:srgbClr val="F26B43"/>
          </p15:clr>
        </p15:guide>
        <p15:guide id="8" orient="horz" pos="2886">
          <p15:clr>
            <a:srgbClr val="F26B43"/>
          </p15:clr>
        </p15:guide>
        <p15:guide id="9" orient="horz" pos="431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NAUDOTŲ VOLKSWAGEN KAINŲ PROGNOZĖ TAIKANT HLM</a:t>
            </a:r>
            <a:endParaRPr lang="en-US"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3127248" y="580644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Savarankiškas HLM · K6(10) · Taikomoji daugiamatė analizė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Lidija Puščiūtė, Darja Baranova · 2026</a:t>
            </a:r>
          </a:p>
        </p:txBody>
      </p:sp>
    </p:spTree>
    <p:extLst>
      <p:ext uri="{BB962C8B-B14F-4D97-AF65-F5344CB8AC3E}">
        <p14:creationId xmlns:p14="http://schemas.microsoft.com/office/powerpoint/2010/main" val="183764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 err="1" smtClean="0"/>
              <a:t>Lidija Puščiūtė</a:t>
            </a:r>
            <a:endParaRPr lang="en-US" sz="20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 err="1" smtClean="0"/>
              <a:t>Darja Baranova</a:t>
            </a:r>
            <a:endParaRPr lang="en-US" sz="2000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 smtClean="0"/>
              <a:t>Kodas ir duomenys: github.com/LidijaPu/K6</a:t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AČIŪ!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90934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Duomenys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91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3B3C3A"/>
                </a:solidFill>
                <a:latin typeface="Arial"/>
              </a:rPr>
              <a:t>Duomenų rinkinys „100,000 UK Used Car Data set“ (Kaggle, failas vw.csv) – naudotų Volkswagen automobilių pardavimo skelbimai Jungtinėje Karalystėje (2020 m.):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06040"/>
            <a:ext cx="105156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800"/>
              </a:spcAft>
              <a:buChar char="•"/>
            </a:pPr>
            <a:r>
              <a:rPr sz="1700" b="1" i="0">
                <a:solidFill>
                  <a:srgbClr val="3B3C3A"/>
                </a:solidFill>
                <a:latin typeface="Arial"/>
              </a:rPr>
              <a:t>model</a:t>
            </a:r>
            <a:r>
              <a:rPr sz="1700" b="0" i="0">
                <a:solidFill>
                  <a:srgbClr val="3B3C3A"/>
                </a:solidFill>
                <a:latin typeface="Arial"/>
              </a:rPr>
              <a:t> – automobilio modelis (II lygmuo, 21 modelis);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700" b="1" i="0">
                <a:solidFill>
                  <a:srgbClr val="3B3C3A"/>
                </a:solidFill>
                <a:latin typeface="Arial"/>
              </a:rPr>
              <a:t>price</a:t>
            </a:r>
            <a:r>
              <a:rPr sz="1700" b="0" i="0">
                <a:solidFill>
                  <a:srgbClr val="3B3C3A"/>
                </a:solidFill>
                <a:latin typeface="Arial"/>
              </a:rPr>
              <a:t> – kaina svarais; modelyje lkaina = log(price);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700" b="1" i="0">
                <a:solidFill>
                  <a:srgbClr val="3B3C3A"/>
                </a:solidFill>
                <a:latin typeface="Arial"/>
              </a:rPr>
              <a:t>amzius</a:t>
            </a:r>
            <a:r>
              <a:rPr sz="1700" b="0" i="0">
                <a:solidFill>
                  <a:srgbClr val="3B3C3A"/>
                </a:solidFill>
                <a:latin typeface="Arial"/>
              </a:rPr>
              <a:t> – automobilio amžius metais (2020 − year);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700" b="1" i="0">
                <a:solidFill>
                  <a:srgbClr val="3B3C3A"/>
                </a:solidFill>
                <a:latin typeface="Arial"/>
              </a:rPr>
              <a:t>rida</a:t>
            </a:r>
            <a:r>
              <a:rPr sz="1700" b="0" i="0">
                <a:solidFill>
                  <a:srgbClr val="3B3C3A"/>
                </a:solidFill>
                <a:latin typeface="Arial"/>
              </a:rPr>
              <a:t> – rida, tūkst. mylių;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700" b="1" i="0">
                <a:solidFill>
                  <a:srgbClr val="3B3C3A"/>
                </a:solidFill>
                <a:latin typeface="Arial"/>
              </a:rPr>
              <a:t>mpg</a:t>
            </a:r>
            <a:r>
              <a:rPr sz="1700" b="0" i="0">
                <a:solidFill>
                  <a:srgbClr val="3B3C3A"/>
                </a:solidFill>
                <a:latin typeface="Arial"/>
              </a:rPr>
              <a:t> – mylios vienam galonui (sąnaudos);</a:t>
            </a:r>
          </a:p>
          <a:p>
            <a:pPr algn="l" marL="285750" indent="-285750">
              <a:spcAft>
                <a:spcPts val="800"/>
              </a:spcAft>
              <a:buChar char="•"/>
            </a:pPr>
            <a:r>
              <a:rPr sz="1700" b="1" i="0">
                <a:solidFill>
                  <a:srgbClr val="3B3C3A"/>
                </a:solidFill>
                <a:latin typeface="Arial"/>
              </a:rPr>
              <a:t>vid_variklis</a:t>
            </a:r>
            <a:r>
              <a:rPr sz="1700" b="0" i="0">
                <a:solidFill>
                  <a:srgbClr val="3B3C3A"/>
                </a:solidFill>
                <a:latin typeface="Arial"/>
              </a:rPr>
              <a:t> – modelio vidutinis variklio tūris, l (II lygmens kintamasis).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532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797979"/>
                </a:solidFill>
                <a:latin typeface="Arial"/>
              </a:rPr>
              <a:t>Po valymo: n = 14 864 automobiliai, 21 modelis. Visi kintamieji, išskyrus model, intervaliniai.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Normalumo testas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3</a:t>
            </a:r>
          </a:p>
        </p:txBody>
      </p:sp>
      <p:pic>
        <p:nvPicPr>
          <p:cNvPr id="4" name="Picture 3" descr="Priklausomo kintamojo histogra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37360"/>
            <a:ext cx="6309360" cy="4141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Priklausomo kintamojo histograma</a:t>
            </a:r>
          </a:p>
        </p:txBody>
      </p:sp>
      <p:pic>
        <p:nvPicPr>
          <p:cNvPr id="6" name="Picture 5" descr="o_shapi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286000"/>
            <a:ext cx="3840480" cy="11595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361188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3C3A"/>
                </a:solidFill>
                <a:latin typeface="Arial"/>
              </a:rPr>
              <a:t>Shapiro testas normalumą atmeta (p &lt; 0,05), tačiau W = 0,986 artimas 1, o histograma beveik simetriška – nukrypimas tik kairėje uodegoje.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Besąlyginis modelis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4</a:t>
            </a:r>
          </a:p>
        </p:txBody>
      </p:sp>
      <p:pic>
        <p:nvPicPr>
          <p:cNvPr id="4" name="Picture 3" descr="e_m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4937760" cy="1201320"/>
          </a:xfrm>
          <a:prstGeom prst="rect">
            <a:avLst/>
          </a:prstGeom>
        </p:spPr>
      </p:pic>
      <p:pic>
        <p:nvPicPr>
          <p:cNvPr id="5" name="Picture 4" descr="o_m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166360" cy="2908986"/>
          </a:xfrm>
          <a:prstGeom prst="rect">
            <a:avLst/>
          </a:prstGeom>
        </p:spPr>
      </p:pic>
      <p:pic>
        <p:nvPicPr>
          <p:cNvPr id="6" name="Picture 5" descr="e_m0e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394960"/>
            <a:ext cx="7790688" cy="4145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5</a:t>
            </a:r>
          </a:p>
        </p:txBody>
      </p:sp>
      <p:pic>
        <p:nvPicPr>
          <p:cNvPr id="4" name="Picture 3" descr="e_m0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91640"/>
            <a:ext cx="6400800" cy="340574"/>
          </a:xfrm>
          <a:prstGeom prst="rect">
            <a:avLst/>
          </a:prstGeom>
        </p:spPr>
      </p:pic>
      <p:pic>
        <p:nvPicPr>
          <p:cNvPr id="5" name="Picture 4" descr="e_h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77440"/>
            <a:ext cx="1399032" cy="499871"/>
          </a:xfrm>
          <a:prstGeom prst="rect">
            <a:avLst/>
          </a:prstGeom>
        </p:spPr>
      </p:pic>
      <p:pic>
        <p:nvPicPr>
          <p:cNvPr id="6" name="Picture 5" descr="e_h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377440"/>
            <a:ext cx="1383792" cy="481583"/>
          </a:xfrm>
          <a:prstGeom prst="rect">
            <a:avLst/>
          </a:prstGeom>
        </p:spPr>
      </p:pic>
      <p:pic>
        <p:nvPicPr>
          <p:cNvPr id="7" name="Picture 6" descr="e_h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2377440"/>
            <a:ext cx="1359408" cy="554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320040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B3C3A"/>
                </a:solidFill>
                <a:latin typeface="Arial"/>
              </a:rPr>
              <a:t>Visos trys nulinės hipotezės yra atmetamos, daroma išvada, kad γ00 ≠ 0, τ00 &gt; 0, σ² &gt; 0.</a:t>
            </a:r>
          </a:p>
        </p:txBody>
      </p:sp>
      <p:pic>
        <p:nvPicPr>
          <p:cNvPr id="9" name="Picture 8" descr="e_ic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977639"/>
            <a:ext cx="6400800" cy="923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51206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7A003B"/>
                </a:solidFill>
                <a:latin typeface="Arial"/>
              </a:rPr>
              <a:t>Apie 65,4 % naudotų VW kainų priklauso nuo automobilio modelio.</a:t>
            </a:r>
          </a:p>
        </p:txBody>
      </p:sp>
      <p:pic>
        <p:nvPicPr>
          <p:cNvPr id="11" name="Picture 10" descr="o_m0i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691640"/>
            <a:ext cx="3703320" cy="16242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5240" y="3407343"/>
            <a:ext cx="3703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97979"/>
                </a:solidFill>
                <a:latin typeface="Arial"/>
              </a:rPr>
              <a:t>intervals(model.0): standartinių nuokrypių PI neapima 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 lygmens kintamųjų koreliacijos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6</a:t>
            </a:r>
          </a:p>
        </p:txBody>
      </p:sp>
      <p:pic>
        <p:nvPicPr>
          <p:cNvPr id="4" name="Picture 3" descr="o_c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5029200" cy="190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40233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3B3C3A"/>
                </a:solidFill>
                <a:latin typeface="Arial"/>
              </a:rPr>
              <a:t>Stipriausiai koreliuoja amžius ir rida (r = 0,763): senesni automobiliai daugiau nuvažiavę.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3B3C3A"/>
                </a:solidFill>
                <a:latin typeface="Arial"/>
              </a:rPr>
              <a:t>Koreliacija mažesnė už 0,8, todėl stipraus multikolinearumo nėra – abu kintamieji paliekami. mpg su kitais koreliuoja vidutiniškai (≈ 0,40).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Dviejų lygmenų modelis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45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1 lygio (automobilio)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amzius, rida, mpg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2 lygio (modelio)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</a:t>
            </a:r>
          </a:p>
        </p:txBody>
      </p:sp>
      <p:pic>
        <p:nvPicPr>
          <p:cNvPr id="5" name="Picture 4" descr="e_m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331720"/>
            <a:ext cx="10472928" cy="2633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6235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Fiksuoto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vid_variklis, amzius, rida, mpg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Atsitiktinio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Parametrų įverčiai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8</a:t>
            </a:r>
          </a:p>
        </p:txBody>
      </p:sp>
      <p:pic>
        <p:nvPicPr>
          <p:cNvPr id="4" name="Picture 3" descr="o_m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91640"/>
            <a:ext cx="7132320" cy="4489769"/>
          </a:xfrm>
          <a:prstGeom prst="rect">
            <a:avLst/>
          </a:prstGeom>
        </p:spPr>
      </p:pic>
      <p:pic>
        <p:nvPicPr>
          <p:cNvPr id="5" name="Picture 4" descr="e_m1e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83080"/>
            <a:ext cx="2977896" cy="375818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Jungtinė lygtis su įverčiais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9</a:t>
            </a:r>
          </a:p>
        </p:txBody>
      </p:sp>
      <p:pic>
        <p:nvPicPr>
          <p:cNvPr id="4" name="Picture 3" descr="e_joi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9927336" cy="405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651760"/>
            <a:ext cx="105156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Visi fiksuoto poveikio parametrai statistiškai reikšmingi (p &lt; 0,05).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Y = log(kaina), todėl poveikis procentais = (e^koef − 1)·100: kiekvieni metai −9,5 %, 1000 mylių −0,46 %, 1 mpg −0,79 %.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Modelis su 1 l didesniu vidutiniu varikliu vidutiniškai 61 % brangesnis.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Amžiaus nuolydžio st. nuokrypis 0,022 – modeliai nuvertėja nevienodai (Caravelle ≈ 5,8 %, Beetle ≈ 13,3 % per metus).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Modelių palyginimas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Lyginant su besąlyginiu modeliu 79,3 % sumažėjo modeliu nepaaiškintų kainų skirtumų:</a:t>
            </a:r>
          </a:p>
        </p:txBody>
      </p:sp>
      <p:pic>
        <p:nvPicPr>
          <p:cNvPr id="5" name="Picture 4" descr="e_sig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194560"/>
            <a:ext cx="612119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520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1600" b="0" i="0">
                <a:solidFill>
                  <a:srgbClr val="3B3C3A"/>
                </a:solidFill>
                <a:latin typeface="Arial"/>
              </a:rPr>
              <a:t>Akaikės indeksas statistiškai reikšmingai sumažėjo (23 329 vienetais, &gt; 10):</a:t>
            </a:r>
          </a:p>
        </p:txBody>
      </p:sp>
      <p:pic>
        <p:nvPicPr>
          <p:cNvPr id="7" name="Picture 6" descr="o_anova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69080"/>
            <a:ext cx="8174736" cy="914400"/>
          </a:xfrm>
          <a:prstGeom prst="rect">
            <a:avLst/>
          </a:prstGeom>
        </p:spPr>
      </p:pic>
      <p:pic>
        <p:nvPicPr>
          <p:cNvPr id="8" name="Picture 7" descr="o_anova1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120640"/>
            <a:ext cx="8065007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97979"/>
                </a:solidFill>
                <a:latin typeface="Arial"/>
              </a:rPr>
              <a:t>Apačioje – modelis be atsitiktinio amžiaus nuolydžio: AIC didesnis, p &lt; 0,0001 – nuolydis reikalingas.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Modelis su sąveika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45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1 lygio (automobilio)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amzius, rida, mpg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2 lygio (modelio)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</a:t>
            </a:r>
          </a:p>
        </p:txBody>
      </p:sp>
      <p:pic>
        <p:nvPicPr>
          <p:cNvPr id="5" name="Picture 4" descr="e_m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331720"/>
            <a:ext cx="10515600" cy="29100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6235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Fiksuoto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vid_variklis, amzius, rida, mpg, vid_variklis·amzius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3C3A"/>
                </a:solidFill>
                <a:latin typeface="Arial"/>
              </a:rPr>
              <a:t>Atsitiktinio poveikio kintamieji: </a:t>
            </a:r>
            <a:r>
              <a:rPr sz="1500" b="0" i="0">
                <a:solidFill>
                  <a:srgbClr val="3B3C3A"/>
                </a:solidFill>
                <a:latin typeface="Arial"/>
              </a:rPr>
              <a:t>amzius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Modelių palyginimas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12</a:t>
            </a:r>
          </a:p>
        </p:txBody>
      </p:sp>
      <p:pic>
        <p:nvPicPr>
          <p:cNvPr id="4" name="Picture 3" descr="o_m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91640"/>
            <a:ext cx="7200899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52578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3B3C3A"/>
                </a:solidFill>
                <a:latin typeface="Arial"/>
              </a:rPr>
              <a:t>Modelio be sąveikos Akaikės indeksas: −14 125,56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3B3C3A"/>
                </a:solidFill>
                <a:latin typeface="Arial"/>
              </a:rPr>
              <a:t>Modelio su sąveika Akaikės indeksas: −14 125,61  (L.Ratio = 2,04; p = 0,153)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Prielaidų tikrinimas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13</a:t>
            </a:r>
          </a:p>
        </p:txBody>
      </p:sp>
      <p:pic>
        <p:nvPicPr>
          <p:cNvPr id="4" name="Picture 3" descr="Liekanų q-q grafik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37360"/>
            <a:ext cx="5074920" cy="3721608"/>
          </a:xfrm>
          <a:prstGeom prst="rect">
            <a:avLst/>
          </a:prstGeom>
        </p:spPr>
      </p:pic>
      <p:pic>
        <p:nvPicPr>
          <p:cNvPr id="5" name="Picture 4" descr="Liekanų histogra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737360"/>
            <a:ext cx="5074920" cy="3721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532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B3C3A"/>
                </a:solidFill>
                <a:latin typeface="Arial"/>
              </a:rPr>
              <a:t>qqnorm(model.1, ~resid(.)) – visai panašu į normalumą; nukrypimai tik kairėje uodegoje (itin pigūs skelbimai).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Prielaidų tikrinimas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14</a:t>
            </a:r>
          </a:p>
        </p:txBody>
      </p:sp>
      <p:pic>
        <p:nvPicPr>
          <p:cNvPr id="4" name="Picture 3" descr="Atsitiktinių efektų q-q grafika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83080"/>
            <a:ext cx="7315200" cy="357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920240"/>
            <a:ext cx="292608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3B3C3A"/>
                </a:solidFill>
                <a:latin typeface="Arial"/>
              </a:rPr>
              <a:t>qqnorm(model.1, ~ranef(.))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3B3C3A"/>
                </a:solidFill>
                <a:latin typeface="Arial"/>
              </a:rPr>
              <a:t>Atsitiktinių efektų u0 ir u1 taškai išsidėstę apie tiesę – normalumas apytiksliai tenkinamas.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Kas negerai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97979"/>
                </a:solidFill>
                <a:latin typeface="Arial"/>
              </a:rPr>
              <a:t>K6 HLM · VW kainos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400"/>
              </a:spcAft>
              <a:buChar char="•"/>
            </a:pPr>
            <a:r>
              <a:rPr sz="1800" b="0" i="0">
                <a:solidFill>
                  <a:srgbClr val="3B3C3A"/>
                </a:solidFill>
                <a:latin typeface="Arial"/>
              </a:rPr>
              <a:t>Modelis su sąveika turėjo nereikšmingą sąveikos koeficientą (p = 0,140), taigi sąveika modelyje nereikalinga.</a:t>
            </a:r>
          </a:p>
          <a:p>
            <a:pPr algn="l" marL="285750" indent="-285750">
              <a:spcAft>
                <a:spcPts val="1400"/>
              </a:spcAft>
              <a:buChar char="•"/>
            </a:pPr>
            <a:r>
              <a:rPr sz="1800" b="0" i="0">
                <a:solidFill>
                  <a:srgbClr val="3B3C3A"/>
                </a:solidFill>
                <a:latin typeface="Arial"/>
              </a:rPr>
              <a:t>Shapiro testas normalumą atmeta; liekanų kairėje uodegoje – keli itin pigūs skelbimai.</a:t>
            </a:r>
          </a:p>
          <a:p>
            <a:pPr algn="l" marL="285750" indent="-285750">
              <a:spcAft>
                <a:spcPts val="1400"/>
              </a:spcAft>
              <a:buChar char="•"/>
            </a:pPr>
            <a:r>
              <a:rPr sz="1800" b="0" i="0">
                <a:solidFill>
                  <a:srgbClr val="3B3C3A"/>
                </a:solidFill>
                <a:latin typeface="Arial"/>
              </a:rPr>
              <a:t>Kainos – skelbimų, ne sandorių; tirta tik viena markė (VW).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VU">
      <a:dk1>
        <a:srgbClr val="7A003B"/>
      </a:dk1>
      <a:lt1>
        <a:srgbClr val="FFFFFF"/>
      </a:lt1>
      <a:dk2>
        <a:srgbClr val="7A003B"/>
      </a:dk2>
      <a:lt2>
        <a:srgbClr val="FEFFFE"/>
      </a:lt2>
      <a:accent1>
        <a:srgbClr val="E03357"/>
      </a:accent1>
      <a:accent2>
        <a:srgbClr val="E2E3E2"/>
      </a:accent2>
      <a:accent3>
        <a:srgbClr val="3B3C3A"/>
      </a:accent3>
      <a:accent4>
        <a:srgbClr val="989998"/>
      </a:accent4>
      <a:accent5>
        <a:srgbClr val="D5D5D5"/>
      </a:accent5>
      <a:accent6>
        <a:srgbClr val="797979"/>
      </a:accent6>
      <a:hlink>
        <a:srgbClr val="E03357"/>
      </a:hlink>
      <a:folHlink>
        <a:srgbClr val="E2E3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VU">
      <a:dk1>
        <a:srgbClr val="7A003B"/>
      </a:dk1>
      <a:lt1>
        <a:srgbClr val="FFFFFF"/>
      </a:lt1>
      <a:dk2>
        <a:srgbClr val="7A003B"/>
      </a:dk2>
      <a:lt2>
        <a:srgbClr val="FEFFFE"/>
      </a:lt2>
      <a:accent1>
        <a:srgbClr val="E03357"/>
      </a:accent1>
      <a:accent2>
        <a:srgbClr val="E2E3E2"/>
      </a:accent2>
      <a:accent3>
        <a:srgbClr val="3B3C3A"/>
      </a:accent3>
      <a:accent4>
        <a:srgbClr val="989998"/>
      </a:accent4>
      <a:accent5>
        <a:srgbClr val="D5D5D5"/>
      </a:accent5>
      <a:accent6>
        <a:srgbClr val="797979"/>
      </a:accent6>
      <a:hlink>
        <a:srgbClr val="E03357"/>
      </a:hlink>
      <a:folHlink>
        <a:srgbClr val="E2E3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12177</TotalTime>
  <Words>40</Words>
  <Application>Microsoft Office PowerPoint</Application>
  <PresentationFormat>Plačiaekranė</PresentationFormat>
  <Paragraphs>22</Paragraphs>
  <Slides>19</Slides>
  <Notes>0</Notes>
  <HiddenSlides>0</HiddenSlides>
  <MMClips>0</MMClips>
  <ScaleCrop>false</ScaleCrop>
  <HeadingPairs>
    <vt:vector size="6" baseType="variant">
      <vt:variant>
        <vt:lpstr>Naudojami šriftai</vt:lpstr>
      </vt:variant>
      <vt:variant>
        <vt:i4>2</vt:i4>
      </vt:variant>
      <vt:variant>
        <vt:lpstr>Tema</vt:lpstr>
      </vt:variant>
      <vt:variant>
        <vt:i4>2</vt:i4>
      </vt:variant>
      <vt:variant>
        <vt:lpstr>Skaidrių pavadinimai</vt:lpstr>
      </vt:variant>
      <vt:variant>
        <vt:i4>19</vt:i4>
      </vt:variant>
    </vt:vector>
  </HeadingPairs>
  <TitlesOfParts>
    <vt:vector size="23" baseType="lpstr">
      <vt:lpstr>Arial</vt:lpstr>
      <vt:lpstr>GT Walsheim</vt:lpstr>
      <vt:lpstr>Custom Design</vt:lpstr>
      <vt:lpstr>1_Custom Design</vt:lpstr>
      <vt:lpstr>PRISTATYMO PAVADINIMAS</vt:lpstr>
      <vt:lpstr>TURINYS</vt:lpstr>
      <vt:lpstr>„PowerPoint“ pateiktis</vt:lpstr>
      <vt:lpstr>„PowerPoint“ pateiktis</vt:lpstr>
      <vt:lpstr>„PowerPoint“ pateiktis</vt:lpstr>
      <vt:lpstr>SKYRIAUS PAVADINIMAS</vt:lpstr>
      <vt:lpstr>SKYRIAUS PAVADINIMAS</vt:lpstr>
      <vt:lpstr>SKYRIAUS PAVADINIMAS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Lentelės</vt:lpstr>
      <vt:lpstr>Lentelės II </vt:lpstr>
      <vt:lpstr>Lentelės III </vt:lpstr>
      <vt:lpstr>„PowerPoint“ pateiktis</vt:lpstr>
      <vt:lpstr>KONTAKTAI</vt:lpstr>
    </vt:vector>
  </TitlesOfParts>
  <Company>Vilniaus universitetas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Rokas Aleliūnas</dc:creator>
  <cp:lastModifiedBy>Giedrė Gintautaitė</cp:lastModifiedBy>
  <cp:revision>97</cp:revision>
  <dcterms:created xsi:type="dcterms:W3CDTF">2017-06-28T06:49:28Z</dcterms:created>
  <dcterms:modified xsi:type="dcterms:W3CDTF">2017-09-27T06:55:47Z</dcterms:modified>
</cp:coreProperties>
</file>